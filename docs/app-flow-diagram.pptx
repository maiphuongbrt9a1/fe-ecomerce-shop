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194" y="127000"/>
            <a:ext cx="952476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i="0">
                <a:solidFill>
                  <a:srgbClr val="1A1A1A"/>
                </a:solidFill>
                <a:latin typeface="Inter"/>
              </a:rPr>
              <a:t>Sơ đồ luồng ứng dụng — e-commerce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194" y="368300"/>
            <a:ext cx="11429714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Inter"/>
              </a:rPr>
              <a:t>Mỗi mũi tên là một hành động hoặc điều kiện chuyển trang · 26 trang ứng dụng + middleware phân quyền</a:t>
            </a:r>
          </a:p>
        </p:txBody>
      </p:sp>
      <p:grpSp>
        <p:nvGrpSpPr>
          <p:cNvPr id="1001" name="Panel:CỬA HÀNG &amp; MUA HÀNG"/>
          <p:cNvGrpSpPr/>
          <p:nvPr/>
        </p:nvGrpSpPr>
        <p:grpSpPr>
          <a:xfrm>
            <a:off x="101597" y="584200"/>
            <a:ext cx="11988500" cy="1384300"/>
            <a:chOff x="101597" y="584200"/>
            <a:chExt cx="11988500" cy="1384300"/>
          </a:xfrm>
        </p:grpSpPr>
        <p:sp>
          <p:nvSpPr>
            <p:cNvPr id="5" name="Rectangle 4"/>
            <p:cNvSpPr/>
            <p:nvPr/>
          </p:nvSpPr>
          <p:spPr>
            <a:xfrm>
              <a:off x="101597" y="584200"/>
              <a:ext cx="11988500" cy="1384300"/>
            </a:xfrm>
            <a:prstGeom prst="rect">
              <a:avLst/>
            </a:prstGeom>
            <a:solidFill>
              <a:srgbClr val="D6CF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03194" y="635000"/>
              <a:ext cx="11785305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1" i="0">
                  <a:solidFill>
                    <a:srgbClr val="3A3A3A"/>
                  </a:solidFill>
                  <a:latin typeface="Inter"/>
                </a:rPr>
                <a:t>CỬA HÀNG &amp; MUA HÀNG</a:t>
              </a:r>
            </a:p>
          </p:txBody>
        </p:sp>
      </p:grpSp>
      <p:grpSp>
        <p:nvGrpSpPr>
          <p:cNvPr id="1002" name="Panel:TÀI KHOẢN NGƯỜI DÙNG"/>
          <p:cNvGrpSpPr/>
          <p:nvPr/>
        </p:nvGrpSpPr>
        <p:grpSpPr>
          <a:xfrm>
            <a:off x="101597" y="2057400"/>
            <a:ext cx="11988500" cy="749300"/>
            <a:chOff x="101597" y="2057400"/>
            <a:chExt cx="11988500" cy="749300"/>
          </a:xfrm>
        </p:grpSpPr>
        <p:sp>
          <p:nvSpPr>
            <p:cNvPr id="7" name="Rectangle 1001"/>
            <p:cNvSpPr/>
            <p:nvPr/>
          </p:nvSpPr>
          <p:spPr>
            <a:xfrm>
              <a:off x="101597" y="2057400"/>
              <a:ext cx="11988500" cy="749300"/>
            </a:xfrm>
            <a:prstGeom prst="rect">
              <a:avLst/>
            </a:prstGeom>
            <a:solidFill>
              <a:srgbClr val="CFC8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8" name="TextBox 1002"/>
            <p:cNvSpPr txBox="1"/>
            <p:nvPr/>
          </p:nvSpPr>
          <p:spPr>
            <a:xfrm>
              <a:off x="203194" y="2108200"/>
              <a:ext cx="11785305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1" i="0">
                  <a:solidFill>
                    <a:srgbClr val="3A3A3A"/>
                  </a:solidFill>
                  <a:latin typeface="Inter"/>
                </a:rPr>
                <a:t>TÀI KHOẢN NGƯỜI DÙNG</a:t>
              </a:r>
            </a:p>
          </p:txBody>
        </p:sp>
      </p:grpSp>
      <p:grpSp>
        <p:nvGrpSpPr>
          <p:cNvPr id="1003" name="Panel:XÁC THỰC"/>
          <p:cNvGrpSpPr/>
          <p:nvPr/>
        </p:nvGrpSpPr>
        <p:grpSpPr>
          <a:xfrm>
            <a:off x="101597" y="2895600"/>
            <a:ext cx="11988500" cy="876300"/>
            <a:chOff x="101597" y="2895600"/>
            <a:chExt cx="11988500" cy="876300"/>
          </a:xfrm>
        </p:grpSpPr>
        <p:sp>
          <p:nvSpPr>
            <p:cNvPr id="9" name="Rectangle 1003"/>
            <p:cNvSpPr/>
            <p:nvPr/>
          </p:nvSpPr>
          <p:spPr>
            <a:xfrm>
              <a:off x="101597" y="2895600"/>
              <a:ext cx="11988500" cy="876300"/>
            </a:xfrm>
            <a:prstGeom prst="rect">
              <a:avLst/>
            </a:prstGeom>
            <a:solidFill>
              <a:srgbClr val="D8C8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" name="TextBox 1004"/>
            <p:cNvSpPr txBox="1"/>
            <p:nvPr/>
          </p:nvSpPr>
          <p:spPr>
            <a:xfrm>
              <a:off x="203194" y="2946400"/>
              <a:ext cx="11785305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1" i="0">
                  <a:solidFill>
                    <a:srgbClr val="3A3A3A"/>
                  </a:solidFill>
                  <a:latin typeface="Inter"/>
                </a:rPr>
                <a:t>XÁC THỰC</a:t>
              </a:r>
            </a:p>
          </p:txBody>
        </p:sp>
      </p:grpSp>
      <p:grpSp>
        <p:nvGrpSpPr>
          <p:cNvPr id="1004" name="Panel:QUẢN TRỊ — ADMIN · /admin/*"/>
          <p:cNvGrpSpPr/>
          <p:nvPr/>
        </p:nvGrpSpPr>
        <p:grpSpPr>
          <a:xfrm>
            <a:off x="101597" y="3860800"/>
            <a:ext cx="8229394" cy="2895600"/>
            <a:chOff x="101597" y="3860800"/>
            <a:chExt cx="8229394" cy="2895600"/>
          </a:xfrm>
        </p:grpSpPr>
        <p:sp>
          <p:nvSpPr>
            <p:cNvPr id="11" name="Rectangle 1005"/>
            <p:cNvSpPr/>
            <p:nvPr/>
          </p:nvSpPr>
          <p:spPr>
            <a:xfrm>
              <a:off x="101597" y="3860800"/>
              <a:ext cx="8229394" cy="2895600"/>
            </a:xfrm>
            <a:prstGeom prst="rect">
              <a:avLst/>
            </a:prstGeom>
            <a:solidFill>
              <a:srgbClr val="D2C2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2" name="TextBox 1006"/>
            <p:cNvSpPr txBox="1"/>
            <p:nvPr/>
          </p:nvSpPr>
          <p:spPr>
            <a:xfrm>
              <a:off x="203194" y="3911600"/>
              <a:ext cx="8026199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1" i="0">
                  <a:solidFill>
                    <a:srgbClr val="3A3A3A"/>
                  </a:solidFill>
                  <a:latin typeface="Inter"/>
                </a:rPr>
                <a:t>QUẢN TRỊ — ADMIN · /admin/*</a:t>
              </a:r>
            </a:p>
          </p:txBody>
        </p:sp>
      </p:grpSp>
      <p:grpSp>
        <p:nvGrpSpPr>
          <p:cNvPr id="1005" name="Panel:NHÂN VIÊN — STAFF · /staff/*"/>
          <p:cNvGrpSpPr/>
          <p:nvPr/>
        </p:nvGrpSpPr>
        <p:grpSpPr>
          <a:xfrm>
            <a:off x="8407189" y="3860800"/>
            <a:ext cx="3682907" cy="2895600"/>
            <a:chOff x="8407189" y="3860800"/>
            <a:chExt cx="3682907" cy="2895600"/>
          </a:xfrm>
        </p:grpSpPr>
        <p:sp>
          <p:nvSpPr>
            <p:cNvPr id="13" name="Rectangle 1007"/>
            <p:cNvSpPr/>
            <p:nvPr/>
          </p:nvSpPr>
          <p:spPr>
            <a:xfrm>
              <a:off x="8407189" y="3860800"/>
              <a:ext cx="3682907" cy="2895600"/>
            </a:xfrm>
            <a:prstGeom prst="rect">
              <a:avLst/>
            </a:prstGeom>
            <a:solidFill>
              <a:srgbClr val="C8D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4" name="TextBox 1008"/>
            <p:cNvSpPr txBox="1"/>
            <p:nvPr/>
          </p:nvSpPr>
          <p:spPr>
            <a:xfrm>
              <a:off x="8508787" y="3911600"/>
              <a:ext cx="347971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1" i="0">
                  <a:solidFill>
                    <a:srgbClr val="3A3A3A"/>
                  </a:solidFill>
                  <a:latin typeface="Inter"/>
                </a:rPr>
                <a:t>NHÂN VIÊN — STAFF · /staff/*</a:t>
              </a:r>
            </a:p>
          </p:txBody>
        </p:sp>
      </p:grpSp>
      <p:grpSp>
        <p:nvGrpSpPr>
          <p:cNvPr id="1006" name="Node:Trang chủ"/>
          <p:cNvGrpSpPr/>
          <p:nvPr/>
        </p:nvGrpSpPr>
        <p:grpSpPr>
          <a:xfrm>
            <a:off x="253993" y="952500"/>
            <a:ext cx="1269968" cy="393700"/>
            <a:chOff x="253993" y="952500"/>
            <a:chExt cx="1269968" cy="393700"/>
          </a:xfrm>
        </p:grpSpPr>
        <p:sp>
          <p:nvSpPr>
            <p:cNvPr id="15" name="Rectangle 1009"/>
            <p:cNvSpPr/>
            <p:nvPr/>
          </p:nvSpPr>
          <p:spPr>
            <a:xfrm>
              <a:off x="253993" y="952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6" name="Rectangle 1010"/>
            <p:cNvSpPr/>
            <p:nvPr/>
          </p:nvSpPr>
          <p:spPr>
            <a:xfrm>
              <a:off x="253993" y="952500"/>
              <a:ext cx="38099" cy="3937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7" name="TextBox 1011"/>
            <p:cNvSpPr txBox="1"/>
            <p:nvPr/>
          </p:nvSpPr>
          <p:spPr>
            <a:xfrm>
              <a:off x="342891" y="990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 dirty="0">
                  <a:solidFill>
                    <a:srgbClr val="1A1A1A"/>
                  </a:solidFill>
                  <a:latin typeface="Inter"/>
                </a:rPr>
                <a:t>Trang </a:t>
              </a:r>
              <a:r>
                <a:rPr sz="1050" b="1" i="0" dirty="0" err="1">
                  <a:solidFill>
                    <a:srgbClr val="1A1A1A"/>
                  </a:solidFill>
                  <a:latin typeface="Inter"/>
                </a:rPr>
                <a:t>chủ</a:t>
              </a:r>
              <a:endParaRPr sz="1050" b="1" i="0" dirty="0">
                <a:solidFill>
                  <a:srgbClr val="1A1A1A"/>
                </a:solidFill>
                <a:latin typeface="Inter"/>
              </a:endParaRPr>
            </a:p>
          </p:txBody>
        </p:sp>
        <p:sp>
          <p:nvSpPr>
            <p:cNvPr id="18" name="TextBox 1012"/>
            <p:cNvSpPr txBox="1"/>
            <p:nvPr/>
          </p:nvSpPr>
          <p:spPr>
            <a:xfrm>
              <a:off x="342891" y="1193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/homepage</a:t>
              </a:r>
            </a:p>
          </p:txBody>
        </p:sp>
      </p:grpSp>
      <p:grpSp>
        <p:nvGrpSpPr>
          <p:cNvPr id="1007" name="Node:Tìm kiếm"/>
          <p:cNvGrpSpPr/>
          <p:nvPr/>
        </p:nvGrpSpPr>
        <p:grpSpPr>
          <a:xfrm>
            <a:off x="1841453" y="952500"/>
            <a:ext cx="1269968" cy="393700"/>
            <a:chOff x="1841453" y="952500"/>
            <a:chExt cx="1269968" cy="393700"/>
          </a:xfrm>
        </p:grpSpPr>
        <p:sp>
          <p:nvSpPr>
            <p:cNvPr id="19" name="Rectangle 1013"/>
            <p:cNvSpPr/>
            <p:nvPr/>
          </p:nvSpPr>
          <p:spPr>
            <a:xfrm>
              <a:off x="1841453" y="952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20" name="Rectangle 1014"/>
            <p:cNvSpPr/>
            <p:nvPr/>
          </p:nvSpPr>
          <p:spPr>
            <a:xfrm>
              <a:off x="1841453" y="952500"/>
              <a:ext cx="38099" cy="3937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21" name="TextBox 1015"/>
            <p:cNvSpPr txBox="1"/>
            <p:nvPr/>
          </p:nvSpPr>
          <p:spPr>
            <a:xfrm>
              <a:off x="1930351" y="990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Tìm kiếm</a:t>
              </a:r>
            </a:p>
          </p:txBody>
        </p:sp>
        <p:sp>
          <p:nvSpPr>
            <p:cNvPr id="22" name="TextBox 1016"/>
            <p:cNvSpPr txBox="1"/>
            <p:nvPr/>
          </p:nvSpPr>
          <p:spPr>
            <a:xfrm>
              <a:off x="1930351" y="1193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/search</a:t>
              </a:r>
            </a:p>
          </p:txBody>
        </p:sp>
      </p:grpSp>
      <p:grpSp>
        <p:nvGrpSpPr>
          <p:cNvPr id="1008" name="Node:Chi tiết sản phẩm"/>
          <p:cNvGrpSpPr/>
          <p:nvPr/>
        </p:nvGrpSpPr>
        <p:grpSpPr>
          <a:xfrm>
            <a:off x="3428914" y="952500"/>
            <a:ext cx="1269968" cy="393700"/>
            <a:chOff x="3428914" y="952500"/>
            <a:chExt cx="1269968" cy="393700"/>
          </a:xfrm>
        </p:grpSpPr>
        <p:sp>
          <p:nvSpPr>
            <p:cNvPr id="23" name="Rectangle 1017"/>
            <p:cNvSpPr/>
            <p:nvPr/>
          </p:nvSpPr>
          <p:spPr>
            <a:xfrm>
              <a:off x="3428914" y="952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24" name="Rectangle 1018"/>
            <p:cNvSpPr/>
            <p:nvPr/>
          </p:nvSpPr>
          <p:spPr>
            <a:xfrm>
              <a:off x="3428914" y="952500"/>
              <a:ext cx="38099" cy="3937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25" name="TextBox 1019"/>
            <p:cNvSpPr txBox="1"/>
            <p:nvPr/>
          </p:nvSpPr>
          <p:spPr>
            <a:xfrm>
              <a:off x="3517812" y="990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Chi tiết sản phẩm</a:t>
              </a:r>
            </a:p>
          </p:txBody>
        </p:sp>
        <p:sp>
          <p:nvSpPr>
            <p:cNvPr id="26" name="TextBox 1020"/>
            <p:cNvSpPr txBox="1"/>
            <p:nvPr/>
          </p:nvSpPr>
          <p:spPr>
            <a:xfrm>
              <a:off x="3517812" y="1193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/product/[id]</a:t>
              </a:r>
            </a:p>
          </p:txBody>
        </p:sp>
      </p:grpSp>
      <p:grpSp>
        <p:nvGrpSpPr>
          <p:cNvPr id="1009" name="Node:Giỏ hàng"/>
          <p:cNvGrpSpPr/>
          <p:nvPr/>
        </p:nvGrpSpPr>
        <p:grpSpPr>
          <a:xfrm>
            <a:off x="5016374" y="952500"/>
            <a:ext cx="1269968" cy="393700"/>
            <a:chOff x="5016374" y="952500"/>
            <a:chExt cx="1269968" cy="393700"/>
          </a:xfrm>
        </p:grpSpPr>
        <p:sp>
          <p:nvSpPr>
            <p:cNvPr id="27" name="Rectangle 1021"/>
            <p:cNvSpPr/>
            <p:nvPr/>
          </p:nvSpPr>
          <p:spPr>
            <a:xfrm>
              <a:off x="5016374" y="952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28" name="Rectangle 1022"/>
            <p:cNvSpPr/>
            <p:nvPr/>
          </p:nvSpPr>
          <p:spPr>
            <a:xfrm>
              <a:off x="5016374" y="952500"/>
              <a:ext cx="38099" cy="3937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29" name="TextBox 1023"/>
            <p:cNvSpPr txBox="1"/>
            <p:nvPr/>
          </p:nvSpPr>
          <p:spPr>
            <a:xfrm>
              <a:off x="5105272" y="990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Giỏ hàng</a:t>
              </a:r>
            </a:p>
          </p:txBody>
        </p:sp>
        <p:sp>
          <p:nvSpPr>
            <p:cNvPr id="30" name="TextBox 1024"/>
            <p:cNvSpPr txBox="1"/>
            <p:nvPr/>
          </p:nvSpPr>
          <p:spPr>
            <a:xfrm>
              <a:off x="5105272" y="1193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/cart</a:t>
              </a:r>
            </a:p>
          </p:txBody>
        </p:sp>
      </p:grpSp>
      <p:grpSp>
        <p:nvGrpSpPr>
          <p:cNvPr id="1010" name="Node:Thanh toán"/>
          <p:cNvGrpSpPr/>
          <p:nvPr/>
        </p:nvGrpSpPr>
        <p:grpSpPr>
          <a:xfrm>
            <a:off x="6603834" y="952500"/>
            <a:ext cx="1269968" cy="393700"/>
            <a:chOff x="6603834" y="952500"/>
            <a:chExt cx="1269968" cy="393700"/>
          </a:xfrm>
        </p:grpSpPr>
        <p:sp>
          <p:nvSpPr>
            <p:cNvPr id="31" name="Rectangle 1025"/>
            <p:cNvSpPr/>
            <p:nvPr/>
          </p:nvSpPr>
          <p:spPr>
            <a:xfrm>
              <a:off x="6603834" y="952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32" name="Rectangle 1026"/>
            <p:cNvSpPr/>
            <p:nvPr/>
          </p:nvSpPr>
          <p:spPr>
            <a:xfrm>
              <a:off x="6603834" y="952500"/>
              <a:ext cx="38099" cy="3937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33" name="TextBox 1027"/>
            <p:cNvSpPr txBox="1"/>
            <p:nvPr/>
          </p:nvSpPr>
          <p:spPr>
            <a:xfrm>
              <a:off x="6692732" y="990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Thanh toán</a:t>
              </a:r>
            </a:p>
          </p:txBody>
        </p:sp>
        <p:sp>
          <p:nvSpPr>
            <p:cNvPr id="34" name="TextBox 1028"/>
            <p:cNvSpPr txBox="1"/>
            <p:nvPr/>
          </p:nvSpPr>
          <p:spPr>
            <a:xfrm>
              <a:off x="6692732" y="1193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/checkout</a:t>
              </a:r>
            </a:p>
          </p:txBody>
        </p:sp>
      </p:grpSp>
      <p:grpSp>
        <p:nvGrpSpPr>
          <p:cNvPr id="1011" name="Node:Chi tiết đơn hàng"/>
          <p:cNvGrpSpPr/>
          <p:nvPr/>
        </p:nvGrpSpPr>
        <p:grpSpPr>
          <a:xfrm>
            <a:off x="8191295" y="952500"/>
            <a:ext cx="1777955" cy="393700"/>
            <a:chOff x="8191295" y="952500"/>
            <a:chExt cx="1777955" cy="393700"/>
          </a:xfrm>
        </p:grpSpPr>
        <p:sp>
          <p:nvSpPr>
            <p:cNvPr id="35" name="Rectangle 1029"/>
            <p:cNvSpPr/>
            <p:nvPr/>
          </p:nvSpPr>
          <p:spPr>
            <a:xfrm>
              <a:off x="8191295" y="952500"/>
              <a:ext cx="1777955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36" name="Rectangle 1030"/>
            <p:cNvSpPr/>
            <p:nvPr/>
          </p:nvSpPr>
          <p:spPr>
            <a:xfrm>
              <a:off x="8191295" y="952500"/>
              <a:ext cx="38099" cy="3937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37" name="TextBox 1031"/>
            <p:cNvSpPr txBox="1"/>
            <p:nvPr/>
          </p:nvSpPr>
          <p:spPr>
            <a:xfrm>
              <a:off x="8280192" y="990600"/>
              <a:ext cx="167635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Chi tiết đơn hàng</a:t>
              </a:r>
            </a:p>
          </p:txBody>
        </p:sp>
        <p:sp>
          <p:nvSpPr>
            <p:cNvPr id="38" name="TextBox 1032"/>
            <p:cNvSpPr txBox="1"/>
            <p:nvPr/>
          </p:nvSpPr>
          <p:spPr>
            <a:xfrm>
              <a:off x="8280192" y="1193800"/>
              <a:ext cx="1676358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/profile/orders/[id]</a:t>
              </a:r>
            </a:p>
          </p:txBody>
        </p:sp>
      </p:grpSp>
      <p:grpSp>
        <p:nvGrpSpPr>
          <p:cNvPr id="1012" name="Node:Trả về VNPay"/>
          <p:cNvGrpSpPr/>
          <p:nvPr/>
        </p:nvGrpSpPr>
        <p:grpSpPr>
          <a:xfrm>
            <a:off x="6603834" y="1511300"/>
            <a:ext cx="1523961" cy="393700"/>
            <a:chOff x="6603834" y="1511300"/>
            <a:chExt cx="1523961" cy="393700"/>
          </a:xfrm>
        </p:grpSpPr>
        <p:sp>
          <p:nvSpPr>
            <p:cNvPr id="39" name="Rectangle 1033"/>
            <p:cNvSpPr/>
            <p:nvPr/>
          </p:nvSpPr>
          <p:spPr>
            <a:xfrm>
              <a:off x="6603834" y="1511300"/>
              <a:ext cx="152396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40" name="Rectangle 1034"/>
            <p:cNvSpPr/>
            <p:nvPr/>
          </p:nvSpPr>
          <p:spPr>
            <a:xfrm>
              <a:off x="6603834" y="1511300"/>
              <a:ext cx="38099" cy="3937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41" name="TextBox 1035"/>
            <p:cNvSpPr txBox="1"/>
            <p:nvPr/>
          </p:nvSpPr>
          <p:spPr>
            <a:xfrm>
              <a:off x="6692732" y="1549400"/>
              <a:ext cx="1422364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Trả về VNPay</a:t>
              </a:r>
            </a:p>
          </p:txBody>
        </p:sp>
        <p:sp>
          <p:nvSpPr>
            <p:cNvPr id="42" name="TextBox 1036"/>
            <p:cNvSpPr txBox="1"/>
            <p:nvPr/>
          </p:nvSpPr>
          <p:spPr>
            <a:xfrm>
              <a:off x="6692732" y="1752600"/>
              <a:ext cx="1422364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/checkout/vnpay-return</a:t>
              </a:r>
            </a:p>
          </p:txBody>
        </p:sp>
      </p:grpSp>
      <p:grpSp>
        <p:nvGrpSpPr>
          <p:cNvPr id="1013" name="Node:Hồ sơ"/>
          <p:cNvGrpSpPr/>
          <p:nvPr/>
        </p:nvGrpSpPr>
        <p:grpSpPr>
          <a:xfrm>
            <a:off x="253993" y="2286000"/>
            <a:ext cx="1269968" cy="393700"/>
            <a:chOff x="253993" y="2286000"/>
            <a:chExt cx="1269968" cy="393700"/>
          </a:xfrm>
        </p:grpSpPr>
        <p:sp>
          <p:nvSpPr>
            <p:cNvPr id="43" name="Rectangle 1037"/>
            <p:cNvSpPr/>
            <p:nvPr/>
          </p:nvSpPr>
          <p:spPr>
            <a:xfrm>
              <a:off x="253993" y="228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44" name="Rectangle 1038"/>
            <p:cNvSpPr/>
            <p:nvPr/>
          </p:nvSpPr>
          <p:spPr>
            <a:xfrm>
              <a:off x="253993" y="2286000"/>
              <a:ext cx="38099" cy="393700"/>
            </a:xfrm>
            <a:prstGeom prst="rect">
              <a:avLst/>
            </a:prstGeom>
            <a:solidFill>
              <a:srgbClr val="574A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45" name="TextBox 1039"/>
            <p:cNvSpPr txBox="1"/>
            <p:nvPr/>
          </p:nvSpPr>
          <p:spPr>
            <a:xfrm>
              <a:off x="342891" y="232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Hồ sơ</a:t>
              </a:r>
            </a:p>
          </p:txBody>
        </p:sp>
        <p:sp>
          <p:nvSpPr>
            <p:cNvPr id="46" name="TextBox 1040"/>
            <p:cNvSpPr txBox="1"/>
            <p:nvPr/>
          </p:nvSpPr>
          <p:spPr>
            <a:xfrm>
              <a:off x="342891" y="252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/profile</a:t>
              </a:r>
            </a:p>
          </p:txBody>
        </p:sp>
      </p:grpSp>
      <p:grpSp>
        <p:nvGrpSpPr>
          <p:cNvPr id="1014" name="Node:Thông báo"/>
          <p:cNvGrpSpPr/>
          <p:nvPr/>
        </p:nvGrpSpPr>
        <p:grpSpPr>
          <a:xfrm>
            <a:off x="1841453" y="2286000"/>
            <a:ext cx="1269968" cy="393700"/>
            <a:chOff x="1841453" y="2286000"/>
            <a:chExt cx="1269968" cy="393700"/>
          </a:xfrm>
        </p:grpSpPr>
        <p:sp>
          <p:nvSpPr>
            <p:cNvPr id="47" name="Rectangle 1041"/>
            <p:cNvSpPr/>
            <p:nvPr/>
          </p:nvSpPr>
          <p:spPr>
            <a:xfrm>
              <a:off x="1841453" y="228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48" name="Rectangle 1042"/>
            <p:cNvSpPr/>
            <p:nvPr/>
          </p:nvSpPr>
          <p:spPr>
            <a:xfrm>
              <a:off x="1841453" y="2286000"/>
              <a:ext cx="38099" cy="393700"/>
            </a:xfrm>
            <a:prstGeom prst="rect">
              <a:avLst/>
            </a:prstGeom>
            <a:solidFill>
              <a:srgbClr val="574A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49" name="TextBox 1043"/>
            <p:cNvSpPr txBox="1"/>
            <p:nvPr/>
          </p:nvSpPr>
          <p:spPr>
            <a:xfrm>
              <a:off x="1930351" y="232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Thông báo</a:t>
              </a:r>
            </a:p>
          </p:txBody>
        </p:sp>
        <p:sp>
          <p:nvSpPr>
            <p:cNvPr id="50" name="TextBox 1044"/>
            <p:cNvSpPr txBox="1"/>
            <p:nvPr/>
          </p:nvSpPr>
          <p:spPr>
            <a:xfrm>
              <a:off x="1930351" y="252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/profile/notifications</a:t>
              </a:r>
            </a:p>
          </p:txBody>
        </p:sp>
      </p:grpSp>
      <p:grpSp>
        <p:nvGrpSpPr>
          <p:cNvPr id="1015" name="Node:Danh sách đơn"/>
          <p:cNvGrpSpPr/>
          <p:nvPr/>
        </p:nvGrpSpPr>
        <p:grpSpPr>
          <a:xfrm>
            <a:off x="3428914" y="2286000"/>
            <a:ext cx="1269968" cy="393700"/>
            <a:chOff x="3428914" y="2286000"/>
            <a:chExt cx="1269968" cy="393700"/>
          </a:xfrm>
        </p:grpSpPr>
        <p:sp>
          <p:nvSpPr>
            <p:cNvPr id="51" name="Rectangle 1045"/>
            <p:cNvSpPr/>
            <p:nvPr/>
          </p:nvSpPr>
          <p:spPr>
            <a:xfrm>
              <a:off x="3428914" y="228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52" name="Rectangle 1046"/>
            <p:cNvSpPr/>
            <p:nvPr/>
          </p:nvSpPr>
          <p:spPr>
            <a:xfrm>
              <a:off x="3428914" y="2286000"/>
              <a:ext cx="38099" cy="393700"/>
            </a:xfrm>
            <a:prstGeom prst="rect">
              <a:avLst/>
            </a:prstGeom>
            <a:solidFill>
              <a:srgbClr val="574A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53" name="TextBox 1047"/>
            <p:cNvSpPr txBox="1"/>
            <p:nvPr/>
          </p:nvSpPr>
          <p:spPr>
            <a:xfrm>
              <a:off x="3517812" y="232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Danh sách đơn</a:t>
              </a:r>
            </a:p>
          </p:txBody>
        </p:sp>
        <p:sp>
          <p:nvSpPr>
            <p:cNvPr id="54" name="TextBox 1048"/>
            <p:cNvSpPr txBox="1"/>
            <p:nvPr/>
          </p:nvSpPr>
          <p:spPr>
            <a:xfrm>
              <a:off x="3517812" y="252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/profile/orders</a:t>
              </a:r>
            </a:p>
          </p:txBody>
        </p:sp>
      </p:grpSp>
      <p:grpSp>
        <p:nvGrpSpPr>
          <p:cNvPr id="1016" name="Node:Voucher của tôi"/>
          <p:cNvGrpSpPr/>
          <p:nvPr/>
        </p:nvGrpSpPr>
        <p:grpSpPr>
          <a:xfrm>
            <a:off x="5016374" y="2286000"/>
            <a:ext cx="1269968" cy="393700"/>
            <a:chOff x="5016374" y="2286000"/>
            <a:chExt cx="1269968" cy="393700"/>
          </a:xfrm>
        </p:grpSpPr>
        <p:sp>
          <p:nvSpPr>
            <p:cNvPr id="55" name="Rectangle 1049"/>
            <p:cNvSpPr/>
            <p:nvPr/>
          </p:nvSpPr>
          <p:spPr>
            <a:xfrm>
              <a:off x="5016374" y="228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56" name="Rectangle 1050"/>
            <p:cNvSpPr/>
            <p:nvPr/>
          </p:nvSpPr>
          <p:spPr>
            <a:xfrm>
              <a:off x="5016374" y="2286000"/>
              <a:ext cx="38099" cy="393700"/>
            </a:xfrm>
            <a:prstGeom prst="rect">
              <a:avLst/>
            </a:prstGeom>
            <a:solidFill>
              <a:srgbClr val="574A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57" name="TextBox 1051"/>
            <p:cNvSpPr txBox="1"/>
            <p:nvPr/>
          </p:nvSpPr>
          <p:spPr>
            <a:xfrm>
              <a:off x="5105272" y="232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Voucher của tôi</a:t>
              </a:r>
            </a:p>
          </p:txBody>
        </p:sp>
        <p:sp>
          <p:nvSpPr>
            <p:cNvPr id="58" name="TextBox 1052"/>
            <p:cNvSpPr txBox="1"/>
            <p:nvPr/>
          </p:nvSpPr>
          <p:spPr>
            <a:xfrm>
              <a:off x="5105272" y="252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/profile/vouchers</a:t>
              </a:r>
            </a:p>
          </p:txBody>
        </p:sp>
      </p:grpSp>
      <p:grpSp>
        <p:nvGrpSpPr>
          <p:cNvPr id="1017" name="Node:Đăng nhập"/>
          <p:cNvGrpSpPr/>
          <p:nvPr/>
        </p:nvGrpSpPr>
        <p:grpSpPr>
          <a:xfrm>
            <a:off x="253993" y="3175000"/>
            <a:ext cx="1269968" cy="393700"/>
            <a:chOff x="253993" y="3175000"/>
            <a:chExt cx="1269968" cy="393700"/>
          </a:xfrm>
        </p:grpSpPr>
        <p:sp>
          <p:nvSpPr>
            <p:cNvPr id="1054" name="Rectangle 1053"/>
            <p:cNvSpPr/>
            <p:nvPr/>
          </p:nvSpPr>
          <p:spPr>
            <a:xfrm>
              <a:off x="253993" y="3175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55" name="Rectangle 1054"/>
            <p:cNvSpPr/>
            <p:nvPr/>
          </p:nvSpPr>
          <p:spPr>
            <a:xfrm>
              <a:off x="253993" y="3175000"/>
              <a:ext cx="38099" cy="393700"/>
            </a:xfrm>
            <a:prstGeom prst="rect">
              <a:avLst/>
            </a:prstGeom>
            <a:solidFill>
              <a:srgbClr val="B055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56" name="TextBox 1055"/>
            <p:cNvSpPr txBox="1"/>
            <p:nvPr/>
          </p:nvSpPr>
          <p:spPr>
            <a:xfrm>
              <a:off x="342891" y="3213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Đăng nhập</a:t>
              </a:r>
            </a:p>
          </p:txBody>
        </p:sp>
        <p:sp>
          <p:nvSpPr>
            <p:cNvPr id="1057" name="TextBox 1056"/>
            <p:cNvSpPr txBox="1"/>
            <p:nvPr/>
          </p:nvSpPr>
          <p:spPr>
            <a:xfrm>
              <a:off x="342891" y="3416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/auth/login</a:t>
              </a:r>
            </a:p>
          </p:txBody>
        </p:sp>
      </p:grpSp>
      <p:grpSp>
        <p:nvGrpSpPr>
          <p:cNvPr id="1018" name="Node:Đăng ký"/>
          <p:cNvGrpSpPr/>
          <p:nvPr/>
        </p:nvGrpSpPr>
        <p:grpSpPr>
          <a:xfrm>
            <a:off x="1841453" y="3175000"/>
            <a:ext cx="1269968" cy="393700"/>
            <a:chOff x="1841453" y="3175000"/>
            <a:chExt cx="1269968" cy="393700"/>
          </a:xfrm>
        </p:grpSpPr>
        <p:sp>
          <p:nvSpPr>
            <p:cNvPr id="1058" name="Rectangle 1057"/>
            <p:cNvSpPr/>
            <p:nvPr/>
          </p:nvSpPr>
          <p:spPr>
            <a:xfrm>
              <a:off x="1841453" y="3175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1841453" y="3175000"/>
              <a:ext cx="38099" cy="393700"/>
            </a:xfrm>
            <a:prstGeom prst="rect">
              <a:avLst/>
            </a:prstGeom>
            <a:solidFill>
              <a:srgbClr val="B055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60" name="TextBox 1059"/>
            <p:cNvSpPr txBox="1"/>
            <p:nvPr/>
          </p:nvSpPr>
          <p:spPr>
            <a:xfrm>
              <a:off x="1930351" y="3213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Đăng ký</a:t>
              </a:r>
            </a:p>
          </p:txBody>
        </p:sp>
        <p:sp>
          <p:nvSpPr>
            <p:cNvPr id="1061" name="TextBox 1060"/>
            <p:cNvSpPr txBox="1"/>
            <p:nvPr/>
          </p:nvSpPr>
          <p:spPr>
            <a:xfrm>
              <a:off x="1930351" y="3416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/auth/signup</a:t>
              </a:r>
            </a:p>
          </p:txBody>
        </p:sp>
      </p:grpSp>
      <p:grpSp>
        <p:nvGrpSpPr>
          <p:cNvPr id="1019" name="Node:Xác thực tài khoản"/>
          <p:cNvGrpSpPr/>
          <p:nvPr/>
        </p:nvGrpSpPr>
        <p:grpSpPr>
          <a:xfrm>
            <a:off x="3428914" y="3175000"/>
            <a:ext cx="1269968" cy="393700"/>
            <a:chOff x="3428914" y="3175000"/>
            <a:chExt cx="1269968" cy="393700"/>
          </a:xfrm>
        </p:grpSpPr>
        <p:sp>
          <p:nvSpPr>
            <p:cNvPr id="1062" name="Rectangle 1061"/>
            <p:cNvSpPr/>
            <p:nvPr/>
          </p:nvSpPr>
          <p:spPr>
            <a:xfrm>
              <a:off x="3428914" y="3175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3428914" y="3175000"/>
              <a:ext cx="38099" cy="393700"/>
            </a:xfrm>
            <a:prstGeom prst="rect">
              <a:avLst/>
            </a:prstGeom>
            <a:solidFill>
              <a:srgbClr val="B055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64" name="TextBox 1063"/>
            <p:cNvSpPr txBox="1"/>
            <p:nvPr/>
          </p:nvSpPr>
          <p:spPr>
            <a:xfrm>
              <a:off x="3517812" y="3213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Xác thực tài khoản</a:t>
              </a:r>
            </a:p>
          </p:txBody>
        </p:sp>
        <p:sp>
          <p:nvSpPr>
            <p:cNvPr id="1065" name="TextBox 1064"/>
            <p:cNvSpPr txBox="1"/>
            <p:nvPr/>
          </p:nvSpPr>
          <p:spPr>
            <a:xfrm>
              <a:off x="3517812" y="3416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/auth/verify/[id]</a:t>
              </a:r>
            </a:p>
          </p:txBody>
        </p:sp>
      </p:grpSp>
      <p:grpSp>
        <p:nvGrpSpPr>
          <p:cNvPr id="1020" name="Node:Quên mật khẩu"/>
          <p:cNvGrpSpPr/>
          <p:nvPr/>
        </p:nvGrpSpPr>
        <p:grpSpPr>
          <a:xfrm>
            <a:off x="5016374" y="3175000"/>
            <a:ext cx="1269968" cy="393700"/>
            <a:chOff x="5016374" y="3175000"/>
            <a:chExt cx="1269968" cy="393700"/>
          </a:xfrm>
        </p:grpSpPr>
        <p:sp>
          <p:nvSpPr>
            <p:cNvPr id="1066" name="Rectangle 1065"/>
            <p:cNvSpPr/>
            <p:nvPr/>
          </p:nvSpPr>
          <p:spPr>
            <a:xfrm>
              <a:off x="5016374" y="3175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67" name="Rectangle 1066"/>
            <p:cNvSpPr/>
            <p:nvPr/>
          </p:nvSpPr>
          <p:spPr>
            <a:xfrm>
              <a:off x="5016374" y="3175000"/>
              <a:ext cx="38099" cy="393700"/>
            </a:xfrm>
            <a:prstGeom prst="rect">
              <a:avLst/>
            </a:prstGeom>
            <a:solidFill>
              <a:srgbClr val="B055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68" name="TextBox 1067"/>
            <p:cNvSpPr txBox="1"/>
            <p:nvPr/>
          </p:nvSpPr>
          <p:spPr>
            <a:xfrm>
              <a:off x="5105272" y="3213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Quên mật khẩu</a:t>
              </a:r>
            </a:p>
          </p:txBody>
        </p:sp>
        <p:sp>
          <p:nvSpPr>
            <p:cNvPr id="1069" name="TextBox 1068"/>
            <p:cNvSpPr txBox="1"/>
            <p:nvPr/>
          </p:nvSpPr>
          <p:spPr>
            <a:xfrm>
              <a:off x="5105272" y="3416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/auth/forgot-password</a:t>
              </a:r>
            </a:p>
          </p:txBody>
        </p:sp>
      </p:grpSp>
      <p:grpSp>
        <p:nvGrpSpPr>
          <p:cNvPr id="1021" name="Node:Đổi mật khẩu"/>
          <p:cNvGrpSpPr/>
          <p:nvPr/>
        </p:nvGrpSpPr>
        <p:grpSpPr>
          <a:xfrm>
            <a:off x="6603834" y="3175000"/>
            <a:ext cx="1269968" cy="393700"/>
            <a:chOff x="6603834" y="3175000"/>
            <a:chExt cx="1269968" cy="393700"/>
          </a:xfrm>
        </p:grpSpPr>
        <p:sp>
          <p:nvSpPr>
            <p:cNvPr id="1070" name="Rectangle 1069"/>
            <p:cNvSpPr/>
            <p:nvPr/>
          </p:nvSpPr>
          <p:spPr>
            <a:xfrm>
              <a:off x="6603834" y="3175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71" name="Rectangle 1070"/>
            <p:cNvSpPr/>
            <p:nvPr/>
          </p:nvSpPr>
          <p:spPr>
            <a:xfrm>
              <a:off x="6603834" y="3175000"/>
              <a:ext cx="38099" cy="393700"/>
            </a:xfrm>
            <a:prstGeom prst="rect">
              <a:avLst/>
            </a:prstGeom>
            <a:solidFill>
              <a:srgbClr val="B055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72" name="TextBox 1071"/>
            <p:cNvSpPr txBox="1"/>
            <p:nvPr/>
          </p:nvSpPr>
          <p:spPr>
            <a:xfrm>
              <a:off x="6692732" y="3213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Đổi mật khẩu</a:t>
              </a:r>
            </a:p>
          </p:txBody>
        </p:sp>
        <p:sp>
          <p:nvSpPr>
            <p:cNvPr id="1073" name="TextBox 1072"/>
            <p:cNvSpPr txBox="1"/>
            <p:nvPr/>
          </p:nvSpPr>
          <p:spPr>
            <a:xfrm>
              <a:off x="6692732" y="3416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/auth/change-password</a:t>
              </a:r>
            </a:p>
          </p:txBody>
        </p:sp>
      </p:grpSp>
      <p:grpSp>
        <p:nvGrpSpPr>
          <p:cNvPr id="1022" name="Node:Bảng điều khiển"/>
          <p:cNvGrpSpPr/>
          <p:nvPr/>
        </p:nvGrpSpPr>
        <p:grpSpPr>
          <a:xfrm>
            <a:off x="253993" y="4254500"/>
            <a:ext cx="1269968" cy="393700"/>
            <a:chOff x="253993" y="4254500"/>
            <a:chExt cx="1269968" cy="393700"/>
          </a:xfrm>
        </p:grpSpPr>
        <p:sp>
          <p:nvSpPr>
            <p:cNvPr id="1074" name="Rectangle 1073"/>
            <p:cNvSpPr/>
            <p:nvPr/>
          </p:nvSpPr>
          <p:spPr>
            <a:xfrm>
              <a:off x="253993" y="4254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75" name="Rectangle 1074"/>
            <p:cNvSpPr/>
            <p:nvPr/>
          </p:nvSpPr>
          <p:spPr>
            <a:xfrm>
              <a:off x="253993" y="4254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76" name="TextBox 1075"/>
            <p:cNvSpPr txBox="1"/>
            <p:nvPr/>
          </p:nvSpPr>
          <p:spPr>
            <a:xfrm>
              <a:off x="342891" y="4292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Bảng điều khiển</a:t>
              </a:r>
            </a:p>
          </p:txBody>
        </p:sp>
        <p:sp>
          <p:nvSpPr>
            <p:cNvPr id="1077" name="TextBox 1076"/>
            <p:cNvSpPr txBox="1"/>
            <p:nvPr/>
          </p:nvSpPr>
          <p:spPr>
            <a:xfrm>
              <a:off x="342891" y="4495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</a:t>
              </a:r>
            </a:p>
          </p:txBody>
        </p:sp>
      </p:grpSp>
      <p:grpSp>
        <p:nvGrpSpPr>
          <p:cNvPr id="1023" name="Node:Quản lý đơn hàng"/>
          <p:cNvGrpSpPr/>
          <p:nvPr/>
        </p:nvGrpSpPr>
        <p:grpSpPr>
          <a:xfrm>
            <a:off x="1600159" y="4254500"/>
            <a:ext cx="1269968" cy="393700"/>
            <a:chOff x="1600159" y="4254500"/>
            <a:chExt cx="1269968" cy="393700"/>
          </a:xfrm>
        </p:grpSpPr>
        <p:sp>
          <p:nvSpPr>
            <p:cNvPr id="1078" name="Rectangle 1077"/>
            <p:cNvSpPr/>
            <p:nvPr/>
          </p:nvSpPr>
          <p:spPr>
            <a:xfrm>
              <a:off x="1600159" y="4254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1600159" y="4254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80" name="TextBox 1079"/>
            <p:cNvSpPr txBox="1"/>
            <p:nvPr/>
          </p:nvSpPr>
          <p:spPr>
            <a:xfrm>
              <a:off x="1689057" y="4292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Quản lý đơn hàng</a:t>
              </a:r>
            </a:p>
          </p:txBody>
        </p:sp>
        <p:sp>
          <p:nvSpPr>
            <p:cNvPr id="1081" name="TextBox 1080"/>
            <p:cNvSpPr txBox="1"/>
            <p:nvPr/>
          </p:nvSpPr>
          <p:spPr>
            <a:xfrm>
              <a:off x="1689057" y="4495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/admin/orders</a:t>
              </a:r>
            </a:p>
          </p:txBody>
        </p:sp>
      </p:grpSp>
      <p:grpSp>
        <p:nvGrpSpPr>
          <p:cNvPr id="1024" name="Node:Khách hàng"/>
          <p:cNvGrpSpPr/>
          <p:nvPr/>
        </p:nvGrpSpPr>
        <p:grpSpPr>
          <a:xfrm>
            <a:off x="2946326" y="4254500"/>
            <a:ext cx="1269968" cy="393700"/>
            <a:chOff x="2946326" y="4254500"/>
            <a:chExt cx="1269968" cy="393700"/>
          </a:xfrm>
        </p:grpSpPr>
        <p:sp>
          <p:nvSpPr>
            <p:cNvPr id="1082" name="Rectangle 1081"/>
            <p:cNvSpPr/>
            <p:nvPr/>
          </p:nvSpPr>
          <p:spPr>
            <a:xfrm>
              <a:off x="2946326" y="4254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2946326" y="4254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84" name="TextBox 1083"/>
            <p:cNvSpPr txBox="1"/>
            <p:nvPr/>
          </p:nvSpPr>
          <p:spPr>
            <a:xfrm>
              <a:off x="3035224" y="4292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Khách hàng</a:t>
              </a:r>
            </a:p>
          </p:txBody>
        </p:sp>
        <p:sp>
          <p:nvSpPr>
            <p:cNvPr id="1085" name="TextBox 1084"/>
            <p:cNvSpPr txBox="1"/>
            <p:nvPr/>
          </p:nvSpPr>
          <p:spPr>
            <a:xfrm>
              <a:off x="3035224" y="4495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/admin/users</a:t>
              </a:r>
            </a:p>
          </p:txBody>
        </p:sp>
      </p:grpSp>
      <p:grpSp>
        <p:nvGrpSpPr>
          <p:cNvPr id="1025" name="Node:Danh mục"/>
          <p:cNvGrpSpPr/>
          <p:nvPr/>
        </p:nvGrpSpPr>
        <p:grpSpPr>
          <a:xfrm>
            <a:off x="4292492" y="4254500"/>
            <a:ext cx="1269968" cy="393700"/>
            <a:chOff x="4292492" y="4254500"/>
            <a:chExt cx="1269968" cy="393700"/>
          </a:xfrm>
        </p:grpSpPr>
        <p:sp>
          <p:nvSpPr>
            <p:cNvPr id="1086" name="Rectangle 1085"/>
            <p:cNvSpPr/>
            <p:nvPr/>
          </p:nvSpPr>
          <p:spPr>
            <a:xfrm>
              <a:off x="4292492" y="4254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87" name="Rectangle 1086"/>
            <p:cNvSpPr/>
            <p:nvPr/>
          </p:nvSpPr>
          <p:spPr>
            <a:xfrm>
              <a:off x="4292492" y="4254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88" name="TextBox 1087"/>
            <p:cNvSpPr txBox="1"/>
            <p:nvPr/>
          </p:nvSpPr>
          <p:spPr>
            <a:xfrm>
              <a:off x="4381390" y="4292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Danh mục</a:t>
              </a:r>
            </a:p>
          </p:txBody>
        </p:sp>
        <p:sp>
          <p:nvSpPr>
            <p:cNvPr id="1089" name="TextBox 1088"/>
            <p:cNvSpPr txBox="1"/>
            <p:nvPr/>
          </p:nvSpPr>
          <p:spPr>
            <a:xfrm>
              <a:off x="4381390" y="4495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/admin/categories</a:t>
              </a:r>
            </a:p>
          </p:txBody>
        </p:sp>
      </p:grpSp>
      <p:grpSp>
        <p:nvGrpSpPr>
          <p:cNvPr id="1026" name="Node:Hộp thoại / Chat"/>
          <p:cNvGrpSpPr/>
          <p:nvPr/>
        </p:nvGrpSpPr>
        <p:grpSpPr>
          <a:xfrm>
            <a:off x="5638659" y="4254500"/>
            <a:ext cx="1269968" cy="393700"/>
            <a:chOff x="5638659" y="4254500"/>
            <a:chExt cx="1269968" cy="393700"/>
          </a:xfrm>
        </p:grpSpPr>
        <p:sp>
          <p:nvSpPr>
            <p:cNvPr id="1090" name="Rectangle 1089"/>
            <p:cNvSpPr/>
            <p:nvPr/>
          </p:nvSpPr>
          <p:spPr>
            <a:xfrm>
              <a:off x="5638659" y="4254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91" name="Rectangle 1090"/>
            <p:cNvSpPr/>
            <p:nvPr/>
          </p:nvSpPr>
          <p:spPr>
            <a:xfrm>
              <a:off x="5638659" y="4254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92" name="TextBox 1091"/>
            <p:cNvSpPr txBox="1"/>
            <p:nvPr/>
          </p:nvSpPr>
          <p:spPr>
            <a:xfrm>
              <a:off x="5727556" y="4292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Hộp thoại / Chat</a:t>
              </a:r>
            </a:p>
          </p:txBody>
        </p:sp>
        <p:sp>
          <p:nvSpPr>
            <p:cNvPr id="1093" name="TextBox 1092"/>
            <p:cNvSpPr txBox="1"/>
            <p:nvPr/>
          </p:nvSpPr>
          <p:spPr>
            <a:xfrm>
              <a:off x="5727556" y="4495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/admin/chat</a:t>
              </a:r>
            </a:p>
          </p:txBody>
        </p:sp>
      </p:grpSp>
      <p:grpSp>
        <p:nvGrpSpPr>
          <p:cNvPr id="1027" name="Node:Mã giảm giá"/>
          <p:cNvGrpSpPr/>
          <p:nvPr/>
        </p:nvGrpSpPr>
        <p:grpSpPr>
          <a:xfrm>
            <a:off x="6984825" y="4254500"/>
            <a:ext cx="1269968" cy="393700"/>
            <a:chOff x="6984825" y="4254500"/>
            <a:chExt cx="1269968" cy="393700"/>
          </a:xfrm>
        </p:grpSpPr>
        <p:sp>
          <p:nvSpPr>
            <p:cNvPr id="1094" name="Rectangle 1093"/>
            <p:cNvSpPr/>
            <p:nvPr/>
          </p:nvSpPr>
          <p:spPr>
            <a:xfrm>
              <a:off x="6984825" y="4254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95" name="Rectangle 1094"/>
            <p:cNvSpPr/>
            <p:nvPr/>
          </p:nvSpPr>
          <p:spPr>
            <a:xfrm>
              <a:off x="6984825" y="4254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96" name="TextBox 1095"/>
            <p:cNvSpPr txBox="1"/>
            <p:nvPr/>
          </p:nvSpPr>
          <p:spPr>
            <a:xfrm>
              <a:off x="7073723" y="4292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Mã giảm giá</a:t>
              </a:r>
            </a:p>
          </p:txBody>
        </p:sp>
        <p:sp>
          <p:nvSpPr>
            <p:cNvPr id="1097" name="TextBox 1096"/>
            <p:cNvSpPr txBox="1"/>
            <p:nvPr/>
          </p:nvSpPr>
          <p:spPr>
            <a:xfrm>
              <a:off x="7073723" y="4495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/admin/coupons</a:t>
              </a:r>
            </a:p>
          </p:txBody>
        </p:sp>
      </p:grpSp>
      <p:grpSp>
        <p:nvGrpSpPr>
          <p:cNvPr id="1028" name="Node:DS sản phẩm"/>
          <p:cNvGrpSpPr/>
          <p:nvPr/>
        </p:nvGrpSpPr>
        <p:grpSpPr>
          <a:xfrm>
            <a:off x="253993" y="4826000"/>
            <a:ext cx="1269968" cy="393700"/>
            <a:chOff x="253993" y="4826000"/>
            <a:chExt cx="1269968" cy="393700"/>
          </a:xfrm>
        </p:grpSpPr>
        <p:sp>
          <p:nvSpPr>
            <p:cNvPr id="1098" name="Rectangle 1097"/>
            <p:cNvSpPr/>
            <p:nvPr/>
          </p:nvSpPr>
          <p:spPr>
            <a:xfrm>
              <a:off x="253993" y="482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253993" y="48260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00" name="TextBox 1099"/>
            <p:cNvSpPr txBox="1"/>
            <p:nvPr/>
          </p:nvSpPr>
          <p:spPr>
            <a:xfrm>
              <a:off x="342891" y="486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DS sản phẩm</a:t>
              </a:r>
            </a:p>
          </p:txBody>
        </p:sp>
        <p:sp>
          <p:nvSpPr>
            <p:cNvPr id="1101" name="TextBox 1100"/>
            <p:cNvSpPr txBox="1"/>
            <p:nvPr/>
          </p:nvSpPr>
          <p:spPr>
            <a:xfrm>
              <a:off x="342891" y="506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/admin/products/list</a:t>
              </a:r>
            </a:p>
          </p:txBody>
        </p:sp>
      </p:grpSp>
      <p:grpSp>
        <p:nvGrpSpPr>
          <p:cNvPr id="1029" name="Node:Thêm sản phẩm"/>
          <p:cNvGrpSpPr/>
          <p:nvPr/>
        </p:nvGrpSpPr>
        <p:grpSpPr>
          <a:xfrm>
            <a:off x="1600159" y="4826000"/>
            <a:ext cx="1269968" cy="393700"/>
            <a:chOff x="1600159" y="4826000"/>
            <a:chExt cx="1269968" cy="393700"/>
          </a:xfrm>
        </p:grpSpPr>
        <p:sp>
          <p:nvSpPr>
            <p:cNvPr id="1102" name="Rectangle 1101"/>
            <p:cNvSpPr/>
            <p:nvPr/>
          </p:nvSpPr>
          <p:spPr>
            <a:xfrm>
              <a:off x="1600159" y="482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600159" y="48260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04" name="TextBox 1103"/>
            <p:cNvSpPr txBox="1"/>
            <p:nvPr/>
          </p:nvSpPr>
          <p:spPr>
            <a:xfrm>
              <a:off x="1689057" y="486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Thêm sản phẩm</a:t>
              </a:r>
            </a:p>
          </p:txBody>
        </p:sp>
        <p:sp>
          <p:nvSpPr>
            <p:cNvPr id="1105" name="TextBox 1104"/>
            <p:cNvSpPr txBox="1"/>
            <p:nvPr/>
          </p:nvSpPr>
          <p:spPr>
            <a:xfrm>
              <a:off x="1689057" y="506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/admin/products/add</a:t>
              </a:r>
            </a:p>
          </p:txBody>
        </p:sp>
      </p:grpSp>
      <p:grpSp>
        <p:nvGrpSpPr>
          <p:cNvPr id="1030" name="Node:Sửa sản phẩm"/>
          <p:cNvGrpSpPr/>
          <p:nvPr/>
        </p:nvGrpSpPr>
        <p:grpSpPr>
          <a:xfrm>
            <a:off x="2946326" y="4826000"/>
            <a:ext cx="1269968" cy="393700"/>
            <a:chOff x="2946326" y="4826000"/>
            <a:chExt cx="1269968" cy="393700"/>
          </a:xfrm>
        </p:grpSpPr>
        <p:sp>
          <p:nvSpPr>
            <p:cNvPr id="1106" name="Rectangle 1105"/>
            <p:cNvSpPr/>
            <p:nvPr/>
          </p:nvSpPr>
          <p:spPr>
            <a:xfrm>
              <a:off x="2946326" y="482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07" name="Rectangle 1106"/>
            <p:cNvSpPr/>
            <p:nvPr/>
          </p:nvSpPr>
          <p:spPr>
            <a:xfrm>
              <a:off x="2946326" y="48260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08" name="TextBox 1107"/>
            <p:cNvSpPr txBox="1"/>
            <p:nvPr/>
          </p:nvSpPr>
          <p:spPr>
            <a:xfrm>
              <a:off x="3035224" y="486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Sửa sản phẩm</a:t>
              </a:r>
            </a:p>
          </p:txBody>
        </p:sp>
        <p:sp>
          <p:nvSpPr>
            <p:cNvPr id="1109" name="TextBox 1108"/>
            <p:cNvSpPr txBox="1"/>
            <p:nvPr/>
          </p:nvSpPr>
          <p:spPr>
            <a:xfrm>
              <a:off x="3035224" y="506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/admin/products/edit/[id]</a:t>
              </a:r>
            </a:p>
          </p:txBody>
        </p:sp>
      </p:grpSp>
      <p:grpSp>
        <p:nvGrpSpPr>
          <p:cNvPr id="1031" name="Node:Đánh giá SP"/>
          <p:cNvGrpSpPr/>
          <p:nvPr/>
        </p:nvGrpSpPr>
        <p:grpSpPr>
          <a:xfrm>
            <a:off x="4292492" y="4826000"/>
            <a:ext cx="1269968" cy="393700"/>
            <a:chOff x="4292492" y="4826000"/>
            <a:chExt cx="1269968" cy="393700"/>
          </a:xfrm>
        </p:grpSpPr>
        <p:sp>
          <p:nvSpPr>
            <p:cNvPr id="1110" name="Rectangle 1109"/>
            <p:cNvSpPr/>
            <p:nvPr/>
          </p:nvSpPr>
          <p:spPr>
            <a:xfrm>
              <a:off x="4292492" y="482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11" name="Rectangle 1110"/>
            <p:cNvSpPr/>
            <p:nvPr/>
          </p:nvSpPr>
          <p:spPr>
            <a:xfrm>
              <a:off x="4292492" y="48260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12" name="TextBox 1111"/>
            <p:cNvSpPr txBox="1"/>
            <p:nvPr/>
          </p:nvSpPr>
          <p:spPr>
            <a:xfrm>
              <a:off x="4381390" y="486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Đánh giá SP</a:t>
              </a:r>
            </a:p>
          </p:txBody>
        </p:sp>
        <p:sp>
          <p:nvSpPr>
            <p:cNvPr id="1113" name="TextBox 1112"/>
            <p:cNvSpPr txBox="1"/>
            <p:nvPr/>
          </p:nvSpPr>
          <p:spPr>
            <a:xfrm>
              <a:off x="4381390" y="506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/admin/products/reviews</a:t>
              </a:r>
            </a:p>
          </p:txBody>
        </p:sp>
      </p:grpSp>
      <p:grpSp>
        <p:nvGrpSpPr>
          <p:cNvPr id="1032" name="Node:Thư viện ảnh SP"/>
          <p:cNvGrpSpPr/>
          <p:nvPr/>
        </p:nvGrpSpPr>
        <p:grpSpPr>
          <a:xfrm>
            <a:off x="5638659" y="4826000"/>
            <a:ext cx="1269968" cy="393700"/>
            <a:chOff x="5638659" y="4826000"/>
            <a:chExt cx="1269968" cy="393700"/>
          </a:xfrm>
        </p:grpSpPr>
        <p:sp>
          <p:nvSpPr>
            <p:cNvPr id="1114" name="Rectangle 1113"/>
            <p:cNvSpPr/>
            <p:nvPr/>
          </p:nvSpPr>
          <p:spPr>
            <a:xfrm>
              <a:off x="5638659" y="482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15" name="Rectangle 1114"/>
            <p:cNvSpPr/>
            <p:nvPr/>
          </p:nvSpPr>
          <p:spPr>
            <a:xfrm>
              <a:off x="5638659" y="48260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16" name="TextBox 1115"/>
            <p:cNvSpPr txBox="1"/>
            <p:nvPr/>
          </p:nvSpPr>
          <p:spPr>
            <a:xfrm>
              <a:off x="5727556" y="486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Thư viện ảnh SP</a:t>
              </a:r>
            </a:p>
          </p:txBody>
        </p:sp>
        <p:sp>
          <p:nvSpPr>
            <p:cNvPr id="1117" name="TextBox 1116"/>
            <p:cNvSpPr txBox="1"/>
            <p:nvPr/>
          </p:nvSpPr>
          <p:spPr>
            <a:xfrm>
              <a:off x="5727556" y="506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/admin/products/media</a:t>
              </a:r>
            </a:p>
          </p:txBody>
        </p:sp>
      </p:grpSp>
      <p:grpSp>
        <p:nvGrpSpPr>
          <p:cNvPr id="1033" name="Node:Thương hiệu"/>
          <p:cNvGrpSpPr/>
          <p:nvPr/>
        </p:nvGrpSpPr>
        <p:grpSpPr>
          <a:xfrm>
            <a:off x="6984825" y="4826000"/>
            <a:ext cx="1269968" cy="393700"/>
            <a:chOff x="6984825" y="4826000"/>
            <a:chExt cx="1269968" cy="393700"/>
          </a:xfrm>
        </p:grpSpPr>
        <p:sp>
          <p:nvSpPr>
            <p:cNvPr id="1118" name="Rectangle 1117"/>
            <p:cNvSpPr/>
            <p:nvPr/>
          </p:nvSpPr>
          <p:spPr>
            <a:xfrm>
              <a:off x="6984825" y="48260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6984825" y="48260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20" name="TextBox 1119"/>
            <p:cNvSpPr txBox="1"/>
            <p:nvPr/>
          </p:nvSpPr>
          <p:spPr>
            <a:xfrm>
              <a:off x="7073723" y="48641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Thương hiệu</a:t>
              </a:r>
            </a:p>
          </p:txBody>
        </p:sp>
        <p:sp>
          <p:nvSpPr>
            <p:cNvPr id="1121" name="TextBox 1120"/>
            <p:cNvSpPr txBox="1"/>
            <p:nvPr/>
          </p:nvSpPr>
          <p:spPr>
            <a:xfrm>
              <a:off x="7073723" y="50673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/admin/brands</a:t>
              </a:r>
            </a:p>
          </p:txBody>
        </p:sp>
      </p:grpSp>
      <p:grpSp>
        <p:nvGrpSpPr>
          <p:cNvPr id="1034" name="Node:Phân quyền"/>
          <p:cNvGrpSpPr/>
          <p:nvPr/>
        </p:nvGrpSpPr>
        <p:grpSpPr>
          <a:xfrm>
            <a:off x="253993" y="5397500"/>
            <a:ext cx="1269968" cy="393700"/>
            <a:chOff x="253993" y="5397500"/>
            <a:chExt cx="1269968" cy="393700"/>
          </a:xfrm>
        </p:grpSpPr>
        <p:sp>
          <p:nvSpPr>
            <p:cNvPr id="1122" name="Rectangle 1121"/>
            <p:cNvSpPr/>
            <p:nvPr/>
          </p:nvSpPr>
          <p:spPr>
            <a:xfrm>
              <a:off x="253993" y="5397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253993" y="5397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24" name="TextBox 1123"/>
            <p:cNvSpPr txBox="1"/>
            <p:nvPr/>
          </p:nvSpPr>
          <p:spPr>
            <a:xfrm>
              <a:off x="342891" y="5435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Phân quyền</a:t>
              </a:r>
            </a:p>
          </p:txBody>
        </p:sp>
        <p:sp>
          <p:nvSpPr>
            <p:cNvPr id="1125" name="TextBox 1124"/>
            <p:cNvSpPr txBox="1"/>
            <p:nvPr/>
          </p:nvSpPr>
          <p:spPr>
            <a:xfrm>
              <a:off x="342891" y="5638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/admin/authority</a:t>
              </a:r>
            </a:p>
          </p:txBody>
        </p:sp>
      </p:grpSp>
      <p:grpSp>
        <p:nvGrpSpPr>
          <p:cNvPr id="1035" name="Node:Vai trò"/>
          <p:cNvGrpSpPr/>
          <p:nvPr/>
        </p:nvGrpSpPr>
        <p:grpSpPr>
          <a:xfrm>
            <a:off x="1600159" y="5397500"/>
            <a:ext cx="1269968" cy="393700"/>
            <a:chOff x="1600159" y="5397500"/>
            <a:chExt cx="1269968" cy="393700"/>
          </a:xfrm>
        </p:grpSpPr>
        <p:sp>
          <p:nvSpPr>
            <p:cNvPr id="1126" name="Rectangle 1125"/>
            <p:cNvSpPr/>
            <p:nvPr/>
          </p:nvSpPr>
          <p:spPr>
            <a:xfrm>
              <a:off x="1600159" y="5397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27" name="Rectangle 1126"/>
            <p:cNvSpPr/>
            <p:nvPr/>
          </p:nvSpPr>
          <p:spPr>
            <a:xfrm>
              <a:off x="1600159" y="5397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28" name="TextBox 1127"/>
            <p:cNvSpPr txBox="1"/>
            <p:nvPr/>
          </p:nvSpPr>
          <p:spPr>
            <a:xfrm>
              <a:off x="1689057" y="5435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Vai trò</a:t>
              </a:r>
            </a:p>
          </p:txBody>
        </p:sp>
        <p:sp>
          <p:nvSpPr>
            <p:cNvPr id="1129" name="TextBox 1128"/>
            <p:cNvSpPr txBox="1"/>
            <p:nvPr/>
          </p:nvSpPr>
          <p:spPr>
            <a:xfrm>
              <a:off x="1689057" y="5638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/admin/roles</a:t>
              </a:r>
            </a:p>
          </p:txBody>
        </p:sp>
      </p:grpSp>
      <p:grpSp>
        <p:nvGrpSpPr>
          <p:cNvPr id="1036" name="Node:Cửa hàng"/>
          <p:cNvGrpSpPr/>
          <p:nvPr/>
        </p:nvGrpSpPr>
        <p:grpSpPr>
          <a:xfrm>
            <a:off x="2946326" y="5397500"/>
            <a:ext cx="1269968" cy="393700"/>
            <a:chOff x="2946326" y="5397500"/>
            <a:chExt cx="1269968" cy="393700"/>
          </a:xfrm>
        </p:grpSpPr>
        <p:sp>
          <p:nvSpPr>
            <p:cNvPr id="1130" name="Rectangle 1129"/>
            <p:cNvSpPr/>
            <p:nvPr/>
          </p:nvSpPr>
          <p:spPr>
            <a:xfrm>
              <a:off x="2946326" y="5397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31" name="Rectangle 1130"/>
            <p:cNvSpPr/>
            <p:nvPr/>
          </p:nvSpPr>
          <p:spPr>
            <a:xfrm>
              <a:off x="2946326" y="5397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32" name="TextBox 1131"/>
            <p:cNvSpPr txBox="1"/>
            <p:nvPr/>
          </p:nvSpPr>
          <p:spPr>
            <a:xfrm>
              <a:off x="3035224" y="5435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Cửa hàng</a:t>
              </a:r>
            </a:p>
          </p:txBody>
        </p:sp>
        <p:sp>
          <p:nvSpPr>
            <p:cNvPr id="1133" name="TextBox 1132"/>
            <p:cNvSpPr txBox="1"/>
            <p:nvPr/>
          </p:nvSpPr>
          <p:spPr>
            <a:xfrm>
              <a:off x="3035224" y="5638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/admin/shop</a:t>
              </a:r>
            </a:p>
          </p:txBody>
        </p:sp>
      </p:grpSp>
      <p:grpSp>
        <p:nvGrpSpPr>
          <p:cNvPr id="1037" name="Node:Giao dịch"/>
          <p:cNvGrpSpPr/>
          <p:nvPr/>
        </p:nvGrpSpPr>
        <p:grpSpPr>
          <a:xfrm>
            <a:off x="4292492" y="5397500"/>
            <a:ext cx="1269968" cy="393700"/>
            <a:chOff x="4292492" y="5397500"/>
            <a:chExt cx="1269968" cy="393700"/>
          </a:xfrm>
        </p:grpSpPr>
        <p:sp>
          <p:nvSpPr>
            <p:cNvPr id="1134" name="Rectangle 1133"/>
            <p:cNvSpPr/>
            <p:nvPr/>
          </p:nvSpPr>
          <p:spPr>
            <a:xfrm>
              <a:off x="4292492" y="5397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35" name="Rectangle 1134"/>
            <p:cNvSpPr/>
            <p:nvPr/>
          </p:nvSpPr>
          <p:spPr>
            <a:xfrm>
              <a:off x="4292492" y="5397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36" name="TextBox 1135"/>
            <p:cNvSpPr txBox="1"/>
            <p:nvPr/>
          </p:nvSpPr>
          <p:spPr>
            <a:xfrm>
              <a:off x="4381390" y="5435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Giao dịch</a:t>
              </a:r>
            </a:p>
          </p:txBody>
        </p:sp>
        <p:sp>
          <p:nvSpPr>
            <p:cNvPr id="1137" name="TextBox 1136"/>
            <p:cNvSpPr txBox="1"/>
            <p:nvPr/>
          </p:nvSpPr>
          <p:spPr>
            <a:xfrm>
              <a:off x="4381390" y="5638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/admin/transactions</a:t>
              </a:r>
            </a:p>
          </p:txBody>
        </p:sp>
      </p:grpSp>
      <p:grpSp>
        <p:nvGrpSpPr>
          <p:cNvPr id="1038" name="Node:Hồ sơ admin"/>
          <p:cNvGrpSpPr/>
          <p:nvPr/>
        </p:nvGrpSpPr>
        <p:grpSpPr>
          <a:xfrm>
            <a:off x="5638659" y="5397500"/>
            <a:ext cx="1269968" cy="393700"/>
            <a:chOff x="5638659" y="5397500"/>
            <a:chExt cx="1269968" cy="393700"/>
          </a:xfrm>
        </p:grpSpPr>
        <p:sp>
          <p:nvSpPr>
            <p:cNvPr id="1138" name="Rectangle 1137"/>
            <p:cNvSpPr/>
            <p:nvPr/>
          </p:nvSpPr>
          <p:spPr>
            <a:xfrm>
              <a:off x="5638659" y="5397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5638659" y="5397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40" name="TextBox 1139"/>
            <p:cNvSpPr txBox="1"/>
            <p:nvPr/>
          </p:nvSpPr>
          <p:spPr>
            <a:xfrm>
              <a:off x="5727556" y="5435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Hồ sơ admin</a:t>
              </a:r>
            </a:p>
          </p:txBody>
        </p:sp>
        <p:sp>
          <p:nvSpPr>
            <p:cNvPr id="1141" name="TextBox 1140"/>
            <p:cNvSpPr txBox="1"/>
            <p:nvPr/>
          </p:nvSpPr>
          <p:spPr>
            <a:xfrm>
              <a:off x="5727556" y="5638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/admin/profile</a:t>
              </a:r>
            </a:p>
          </p:txBody>
        </p:sp>
      </p:grpSp>
      <p:grpSp>
        <p:nvGrpSpPr>
          <p:cNvPr id="1039" name="Node:Sidebar Admin"/>
          <p:cNvGrpSpPr/>
          <p:nvPr/>
        </p:nvGrpSpPr>
        <p:grpSpPr>
          <a:xfrm>
            <a:off x="6984825" y="5397500"/>
            <a:ext cx="1269968" cy="393700"/>
            <a:chOff x="6984825" y="5397500"/>
            <a:chExt cx="1269968" cy="393700"/>
          </a:xfrm>
        </p:grpSpPr>
        <p:sp>
          <p:nvSpPr>
            <p:cNvPr id="1142" name="Rectangle 1141"/>
            <p:cNvSpPr/>
            <p:nvPr/>
          </p:nvSpPr>
          <p:spPr>
            <a:xfrm>
              <a:off x="6984825" y="5397500"/>
              <a:ext cx="1269968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6984825" y="5397500"/>
              <a:ext cx="38099" cy="3937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44" name="TextBox 1143"/>
            <p:cNvSpPr txBox="1"/>
            <p:nvPr/>
          </p:nvSpPr>
          <p:spPr>
            <a:xfrm>
              <a:off x="7073723" y="5435600"/>
              <a:ext cx="1168370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 dirty="0">
                  <a:solidFill>
                    <a:srgbClr val="1A1A1A"/>
                  </a:solidFill>
                  <a:latin typeface="Inter"/>
                </a:rPr>
                <a:t>Sidebar Admin</a:t>
              </a:r>
            </a:p>
          </p:txBody>
        </p:sp>
        <p:sp>
          <p:nvSpPr>
            <p:cNvPr id="1145" name="TextBox 1144"/>
            <p:cNvSpPr txBox="1"/>
            <p:nvPr/>
          </p:nvSpPr>
          <p:spPr>
            <a:xfrm>
              <a:off x="7073723" y="5638800"/>
              <a:ext cx="116837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điều hướng nội bộ</a:t>
              </a:r>
            </a:p>
          </p:txBody>
        </p:sp>
      </p:grpSp>
      <p:grpSp>
        <p:nvGrpSpPr>
          <p:cNvPr id="1040" name="Node:Bảng điều khiển"/>
          <p:cNvGrpSpPr/>
          <p:nvPr/>
        </p:nvGrpSpPr>
        <p:grpSpPr>
          <a:xfrm>
            <a:off x="8508787" y="4254500"/>
            <a:ext cx="1142971" cy="393700"/>
            <a:chOff x="8508787" y="4254500"/>
            <a:chExt cx="1142971" cy="393700"/>
          </a:xfrm>
        </p:grpSpPr>
        <p:sp>
          <p:nvSpPr>
            <p:cNvPr id="1146" name="Rectangle 1145"/>
            <p:cNvSpPr/>
            <p:nvPr/>
          </p:nvSpPr>
          <p:spPr>
            <a:xfrm>
              <a:off x="8508787" y="42545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47" name="Rectangle 1146"/>
            <p:cNvSpPr/>
            <p:nvPr/>
          </p:nvSpPr>
          <p:spPr>
            <a:xfrm>
              <a:off x="8508787" y="42545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48" name="TextBox 1147"/>
            <p:cNvSpPr txBox="1"/>
            <p:nvPr/>
          </p:nvSpPr>
          <p:spPr>
            <a:xfrm>
              <a:off x="8597685" y="42926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Bảng điều khiển</a:t>
              </a:r>
            </a:p>
          </p:txBody>
        </p:sp>
        <p:sp>
          <p:nvSpPr>
            <p:cNvPr id="1149" name="TextBox 1148"/>
            <p:cNvSpPr txBox="1"/>
            <p:nvPr/>
          </p:nvSpPr>
          <p:spPr>
            <a:xfrm>
              <a:off x="8597685" y="44958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</a:t>
              </a:r>
            </a:p>
          </p:txBody>
        </p:sp>
      </p:grpSp>
      <p:grpSp>
        <p:nvGrpSpPr>
          <p:cNvPr id="1041" name="Node:Quản lý đơn hàng"/>
          <p:cNvGrpSpPr/>
          <p:nvPr/>
        </p:nvGrpSpPr>
        <p:grpSpPr>
          <a:xfrm>
            <a:off x="9715257" y="4254500"/>
            <a:ext cx="1142971" cy="393700"/>
            <a:chOff x="9715257" y="4254500"/>
            <a:chExt cx="1142971" cy="393700"/>
          </a:xfrm>
        </p:grpSpPr>
        <p:sp>
          <p:nvSpPr>
            <p:cNvPr id="1150" name="Rectangle 1149"/>
            <p:cNvSpPr/>
            <p:nvPr/>
          </p:nvSpPr>
          <p:spPr>
            <a:xfrm>
              <a:off x="9715257" y="42545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51" name="Rectangle 1150"/>
            <p:cNvSpPr/>
            <p:nvPr/>
          </p:nvSpPr>
          <p:spPr>
            <a:xfrm>
              <a:off x="9715257" y="42545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52" name="TextBox 1151"/>
            <p:cNvSpPr txBox="1"/>
            <p:nvPr/>
          </p:nvSpPr>
          <p:spPr>
            <a:xfrm>
              <a:off x="9804154" y="42926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Quản lý đơn hàng</a:t>
              </a:r>
            </a:p>
          </p:txBody>
        </p:sp>
        <p:sp>
          <p:nvSpPr>
            <p:cNvPr id="1153" name="TextBox 1152"/>
            <p:cNvSpPr txBox="1"/>
            <p:nvPr/>
          </p:nvSpPr>
          <p:spPr>
            <a:xfrm>
              <a:off x="9804154" y="44958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/staff/orders</a:t>
              </a:r>
            </a:p>
          </p:txBody>
        </p:sp>
      </p:grpSp>
      <p:grpSp>
        <p:nvGrpSpPr>
          <p:cNvPr id="1042" name="Node:Khách hàng"/>
          <p:cNvGrpSpPr/>
          <p:nvPr/>
        </p:nvGrpSpPr>
        <p:grpSpPr>
          <a:xfrm>
            <a:off x="10921726" y="4254500"/>
            <a:ext cx="1142971" cy="393700"/>
            <a:chOff x="10921726" y="4254500"/>
            <a:chExt cx="1142971" cy="393700"/>
          </a:xfrm>
        </p:grpSpPr>
        <p:sp>
          <p:nvSpPr>
            <p:cNvPr id="1154" name="Rectangle 1153"/>
            <p:cNvSpPr/>
            <p:nvPr/>
          </p:nvSpPr>
          <p:spPr>
            <a:xfrm>
              <a:off x="10921726" y="42545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55" name="Rectangle 1154"/>
            <p:cNvSpPr/>
            <p:nvPr/>
          </p:nvSpPr>
          <p:spPr>
            <a:xfrm>
              <a:off x="10921726" y="42545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56" name="TextBox 1155"/>
            <p:cNvSpPr txBox="1"/>
            <p:nvPr/>
          </p:nvSpPr>
          <p:spPr>
            <a:xfrm>
              <a:off x="11010624" y="42926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Khách hàng</a:t>
              </a:r>
            </a:p>
          </p:txBody>
        </p:sp>
        <p:sp>
          <p:nvSpPr>
            <p:cNvPr id="1157" name="TextBox 1156"/>
            <p:cNvSpPr txBox="1"/>
            <p:nvPr/>
          </p:nvSpPr>
          <p:spPr>
            <a:xfrm>
              <a:off x="11010624" y="44958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/staff/users</a:t>
              </a:r>
            </a:p>
          </p:txBody>
        </p:sp>
      </p:grpSp>
      <p:grpSp>
        <p:nvGrpSpPr>
          <p:cNvPr id="1043" name="Node:Danh mục"/>
          <p:cNvGrpSpPr/>
          <p:nvPr/>
        </p:nvGrpSpPr>
        <p:grpSpPr>
          <a:xfrm>
            <a:off x="8508787" y="4826000"/>
            <a:ext cx="1142971" cy="393700"/>
            <a:chOff x="8508787" y="4826000"/>
            <a:chExt cx="1142971" cy="393700"/>
          </a:xfrm>
        </p:grpSpPr>
        <p:sp>
          <p:nvSpPr>
            <p:cNvPr id="1158" name="Rectangle 1157"/>
            <p:cNvSpPr/>
            <p:nvPr/>
          </p:nvSpPr>
          <p:spPr>
            <a:xfrm>
              <a:off x="8508787" y="48260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8508787" y="48260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60" name="TextBox 1159"/>
            <p:cNvSpPr txBox="1"/>
            <p:nvPr/>
          </p:nvSpPr>
          <p:spPr>
            <a:xfrm>
              <a:off x="8597685" y="48641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Danh mục</a:t>
              </a:r>
            </a:p>
          </p:txBody>
        </p:sp>
        <p:sp>
          <p:nvSpPr>
            <p:cNvPr id="1161" name="TextBox 1160"/>
            <p:cNvSpPr txBox="1"/>
            <p:nvPr/>
          </p:nvSpPr>
          <p:spPr>
            <a:xfrm>
              <a:off x="8597685" y="50673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/staff/categories</a:t>
              </a:r>
            </a:p>
          </p:txBody>
        </p:sp>
      </p:grpSp>
      <p:grpSp>
        <p:nvGrpSpPr>
          <p:cNvPr id="1044" name="Node:Hộp thoại / Chat"/>
          <p:cNvGrpSpPr/>
          <p:nvPr/>
        </p:nvGrpSpPr>
        <p:grpSpPr>
          <a:xfrm>
            <a:off x="9715257" y="4826000"/>
            <a:ext cx="1142971" cy="393700"/>
            <a:chOff x="9715257" y="4826000"/>
            <a:chExt cx="1142971" cy="393700"/>
          </a:xfrm>
        </p:grpSpPr>
        <p:sp>
          <p:nvSpPr>
            <p:cNvPr id="1162" name="Rectangle 1161"/>
            <p:cNvSpPr/>
            <p:nvPr/>
          </p:nvSpPr>
          <p:spPr>
            <a:xfrm>
              <a:off x="9715257" y="48260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9715257" y="48260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64" name="TextBox 1163"/>
            <p:cNvSpPr txBox="1"/>
            <p:nvPr/>
          </p:nvSpPr>
          <p:spPr>
            <a:xfrm>
              <a:off x="9804154" y="48641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Hộp thoại / Chat</a:t>
              </a:r>
            </a:p>
          </p:txBody>
        </p:sp>
        <p:sp>
          <p:nvSpPr>
            <p:cNvPr id="1165" name="TextBox 1164"/>
            <p:cNvSpPr txBox="1"/>
            <p:nvPr/>
          </p:nvSpPr>
          <p:spPr>
            <a:xfrm>
              <a:off x="9804154" y="50673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/staff/chat</a:t>
              </a:r>
            </a:p>
          </p:txBody>
        </p:sp>
      </p:grpSp>
      <p:grpSp>
        <p:nvGrpSpPr>
          <p:cNvPr id="1045" name="Node:Mã giảm giá"/>
          <p:cNvGrpSpPr/>
          <p:nvPr/>
        </p:nvGrpSpPr>
        <p:grpSpPr>
          <a:xfrm>
            <a:off x="10921726" y="4826000"/>
            <a:ext cx="1142971" cy="393700"/>
            <a:chOff x="10921726" y="4826000"/>
            <a:chExt cx="1142971" cy="393700"/>
          </a:xfrm>
        </p:grpSpPr>
        <p:sp>
          <p:nvSpPr>
            <p:cNvPr id="1166" name="Rectangle 1165"/>
            <p:cNvSpPr/>
            <p:nvPr/>
          </p:nvSpPr>
          <p:spPr>
            <a:xfrm>
              <a:off x="10921726" y="48260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67" name="Rectangle 1166"/>
            <p:cNvSpPr/>
            <p:nvPr/>
          </p:nvSpPr>
          <p:spPr>
            <a:xfrm>
              <a:off x="10921726" y="48260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68" name="TextBox 1167"/>
            <p:cNvSpPr txBox="1"/>
            <p:nvPr/>
          </p:nvSpPr>
          <p:spPr>
            <a:xfrm>
              <a:off x="11010624" y="48641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Mã giảm giá</a:t>
              </a:r>
            </a:p>
          </p:txBody>
        </p:sp>
        <p:sp>
          <p:nvSpPr>
            <p:cNvPr id="1169" name="TextBox 1168"/>
            <p:cNvSpPr txBox="1"/>
            <p:nvPr/>
          </p:nvSpPr>
          <p:spPr>
            <a:xfrm>
              <a:off x="11010624" y="50673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/staff/coupons</a:t>
              </a:r>
            </a:p>
          </p:txBody>
        </p:sp>
      </p:grpSp>
      <p:grpSp>
        <p:nvGrpSpPr>
          <p:cNvPr id="1046" name="Node:DS sản phẩm"/>
          <p:cNvGrpSpPr/>
          <p:nvPr/>
        </p:nvGrpSpPr>
        <p:grpSpPr>
          <a:xfrm>
            <a:off x="8508787" y="5397500"/>
            <a:ext cx="1142971" cy="393700"/>
            <a:chOff x="8508787" y="5397500"/>
            <a:chExt cx="1142971" cy="393700"/>
          </a:xfrm>
        </p:grpSpPr>
        <p:sp>
          <p:nvSpPr>
            <p:cNvPr id="1170" name="Rectangle 1169"/>
            <p:cNvSpPr/>
            <p:nvPr/>
          </p:nvSpPr>
          <p:spPr>
            <a:xfrm>
              <a:off x="8508787" y="53975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71" name="Rectangle 1170"/>
            <p:cNvSpPr/>
            <p:nvPr/>
          </p:nvSpPr>
          <p:spPr>
            <a:xfrm>
              <a:off x="8508787" y="53975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72" name="TextBox 1171"/>
            <p:cNvSpPr txBox="1"/>
            <p:nvPr/>
          </p:nvSpPr>
          <p:spPr>
            <a:xfrm>
              <a:off x="8597685" y="54356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DS sản phẩm</a:t>
              </a:r>
            </a:p>
          </p:txBody>
        </p:sp>
        <p:sp>
          <p:nvSpPr>
            <p:cNvPr id="1173" name="TextBox 1172"/>
            <p:cNvSpPr txBox="1"/>
            <p:nvPr/>
          </p:nvSpPr>
          <p:spPr>
            <a:xfrm>
              <a:off x="8597685" y="56388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/staff/products/list</a:t>
              </a:r>
            </a:p>
          </p:txBody>
        </p:sp>
      </p:grpSp>
      <p:grpSp>
        <p:nvGrpSpPr>
          <p:cNvPr id="1047" name="Node:Đánh giá SP"/>
          <p:cNvGrpSpPr/>
          <p:nvPr/>
        </p:nvGrpSpPr>
        <p:grpSpPr>
          <a:xfrm>
            <a:off x="9715257" y="5397500"/>
            <a:ext cx="1142971" cy="393700"/>
            <a:chOff x="9715257" y="5397500"/>
            <a:chExt cx="1142971" cy="393700"/>
          </a:xfrm>
        </p:grpSpPr>
        <p:sp>
          <p:nvSpPr>
            <p:cNvPr id="1174" name="Rectangle 1173"/>
            <p:cNvSpPr/>
            <p:nvPr/>
          </p:nvSpPr>
          <p:spPr>
            <a:xfrm>
              <a:off x="9715257" y="53975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75" name="Rectangle 1174"/>
            <p:cNvSpPr/>
            <p:nvPr/>
          </p:nvSpPr>
          <p:spPr>
            <a:xfrm>
              <a:off x="9715257" y="53975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76" name="TextBox 1175"/>
            <p:cNvSpPr txBox="1"/>
            <p:nvPr/>
          </p:nvSpPr>
          <p:spPr>
            <a:xfrm>
              <a:off x="9804154" y="54356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Đánh giá SP</a:t>
              </a:r>
            </a:p>
          </p:txBody>
        </p:sp>
        <p:sp>
          <p:nvSpPr>
            <p:cNvPr id="1177" name="TextBox 1176"/>
            <p:cNvSpPr txBox="1"/>
            <p:nvPr/>
          </p:nvSpPr>
          <p:spPr>
            <a:xfrm>
              <a:off x="9804154" y="56388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 dirty="0">
                  <a:solidFill>
                    <a:srgbClr val="6A6A6A"/>
                  </a:solidFill>
                  <a:latin typeface="Inter"/>
                </a:rPr>
                <a:t>/staff/products/reviews</a:t>
              </a:r>
            </a:p>
          </p:txBody>
        </p:sp>
      </p:grpSp>
      <p:grpSp>
        <p:nvGrpSpPr>
          <p:cNvPr id="1048" name="Node:Hồ sơ staff"/>
          <p:cNvGrpSpPr/>
          <p:nvPr/>
        </p:nvGrpSpPr>
        <p:grpSpPr>
          <a:xfrm>
            <a:off x="10921726" y="5397500"/>
            <a:ext cx="1142971" cy="393700"/>
            <a:chOff x="10921726" y="5397500"/>
            <a:chExt cx="1142971" cy="393700"/>
          </a:xfrm>
        </p:grpSpPr>
        <p:sp>
          <p:nvSpPr>
            <p:cNvPr id="1178" name="Rectangle 1177"/>
            <p:cNvSpPr/>
            <p:nvPr/>
          </p:nvSpPr>
          <p:spPr>
            <a:xfrm>
              <a:off x="10921726" y="5397500"/>
              <a:ext cx="1142971" cy="393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C2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10921726" y="5397500"/>
              <a:ext cx="38099" cy="3937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180" name="TextBox 1179"/>
            <p:cNvSpPr txBox="1"/>
            <p:nvPr/>
          </p:nvSpPr>
          <p:spPr>
            <a:xfrm>
              <a:off x="11010624" y="5435600"/>
              <a:ext cx="1041373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050" b="1" i="0">
                  <a:solidFill>
                    <a:srgbClr val="1A1A1A"/>
                  </a:solidFill>
                  <a:latin typeface="Inter"/>
                </a:rPr>
                <a:t>Hồ sơ staff</a:t>
              </a:r>
            </a:p>
          </p:txBody>
        </p:sp>
        <p:sp>
          <p:nvSpPr>
            <p:cNvPr id="1181" name="TextBox 1180"/>
            <p:cNvSpPr txBox="1"/>
            <p:nvPr/>
          </p:nvSpPr>
          <p:spPr>
            <a:xfrm>
              <a:off x="11010624" y="5638800"/>
              <a:ext cx="1041373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6A6A6A"/>
                  </a:solidFill>
                  <a:latin typeface="Inter"/>
                </a:rPr>
                <a:t>/staff/profile</a:t>
              </a:r>
            </a:p>
          </p:txBody>
        </p:sp>
      </p:grpSp>
      <p:cxnSp>
        <p:nvCxnSpPr>
          <p:cNvPr id="1182" name="Connector 1181"/>
          <p:cNvCxnSpPr/>
          <p:nvPr/>
        </p:nvCxnSpPr>
        <p:spPr>
          <a:xfrm>
            <a:off x="1523961" y="11493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>
            <a:off x="3111422" y="11493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Connector 1183"/>
          <p:cNvCxnSpPr/>
          <p:nvPr/>
        </p:nvCxnSpPr>
        <p:spPr>
          <a:xfrm>
            <a:off x="4698882" y="11493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Connector 1184"/>
          <p:cNvCxnSpPr/>
          <p:nvPr/>
        </p:nvCxnSpPr>
        <p:spPr>
          <a:xfrm>
            <a:off x="6286342" y="11493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>
            <a:off x="7873803" y="11493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7" name="TextBox 1186"/>
          <p:cNvSpPr txBox="1"/>
          <p:nvPr/>
        </p:nvSpPr>
        <p:spPr>
          <a:xfrm>
            <a:off x="1530311" y="983522"/>
            <a:ext cx="304792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tìm kiếm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3111422" y="983522"/>
            <a:ext cx="317492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chọn SP</a:t>
            </a:r>
          </a:p>
        </p:txBody>
      </p:sp>
      <p:sp>
        <p:nvSpPr>
          <p:cNvPr id="1189" name="TextBox 1188"/>
          <p:cNvSpPr txBox="1"/>
          <p:nvPr/>
        </p:nvSpPr>
        <p:spPr>
          <a:xfrm>
            <a:off x="4673483" y="983522"/>
            <a:ext cx="368290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thêm giỏ</a:t>
            </a:r>
          </a:p>
        </p:txBody>
      </p:sp>
      <p:sp>
        <p:nvSpPr>
          <p:cNvPr id="1190" name="TextBox 1189"/>
          <p:cNvSpPr txBox="1"/>
          <p:nvPr/>
        </p:nvSpPr>
        <p:spPr>
          <a:xfrm>
            <a:off x="6273643" y="983522"/>
            <a:ext cx="342891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thanh toán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7797605" y="921967"/>
            <a:ext cx="393690" cy="37856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đặt thành công</a:t>
            </a:r>
          </a:p>
        </p:txBody>
      </p:sp>
      <p:cxnSp>
        <p:nvCxnSpPr>
          <p:cNvPr id="1192" name="Connector 1191"/>
          <p:cNvCxnSpPr/>
          <p:nvPr/>
        </p:nvCxnSpPr>
        <p:spPr>
          <a:xfrm flipV="1">
            <a:off x="4063898" y="698500"/>
            <a:ext cx="0" cy="25400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>
            <a:off x="4063898" y="698500"/>
            <a:ext cx="3174921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>
            <a:off x="7238819" y="698500"/>
            <a:ext cx="0" cy="2540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5" name="TextBox 1194"/>
          <p:cNvSpPr txBox="1"/>
          <p:nvPr/>
        </p:nvSpPr>
        <p:spPr>
          <a:xfrm>
            <a:off x="5371965" y="532672"/>
            <a:ext cx="876278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 dirty="0" err="1">
                <a:solidFill>
                  <a:srgbClr val="1A1A1A"/>
                </a:solidFill>
                <a:latin typeface="Inter"/>
              </a:rPr>
              <a:t>người</a:t>
            </a:r>
            <a:r>
              <a:rPr sz="800" i="1" dirty="0">
                <a:solidFill>
                  <a:srgbClr val="1A1A1A"/>
                </a:solidFill>
                <a:latin typeface="Inter"/>
              </a:rPr>
              <a:t> </a:t>
            </a:r>
            <a:r>
              <a:rPr sz="800" i="1" dirty="0" err="1">
                <a:solidFill>
                  <a:srgbClr val="1A1A1A"/>
                </a:solidFill>
                <a:latin typeface="Inter"/>
              </a:rPr>
              <a:t>dùng</a:t>
            </a:r>
            <a:r>
              <a:rPr sz="800" i="1" dirty="0">
                <a:solidFill>
                  <a:srgbClr val="1A1A1A"/>
                </a:solidFill>
                <a:latin typeface="Inter"/>
              </a:rPr>
              <a:t> </a:t>
            </a:r>
            <a:r>
              <a:rPr sz="800" i="1" dirty="0" err="1">
                <a:solidFill>
                  <a:srgbClr val="1A1A1A"/>
                </a:solidFill>
                <a:latin typeface="Inter"/>
              </a:rPr>
              <a:t>nhấn</a:t>
            </a:r>
            <a:r>
              <a:rPr sz="800" i="1" dirty="0">
                <a:solidFill>
                  <a:srgbClr val="1A1A1A"/>
                </a:solidFill>
                <a:latin typeface="Inter"/>
              </a:rPr>
              <a:t> "Mua </a:t>
            </a:r>
            <a:r>
              <a:rPr sz="800" i="1" dirty="0" err="1">
                <a:solidFill>
                  <a:srgbClr val="1A1A1A"/>
                </a:solidFill>
                <a:latin typeface="Inter"/>
              </a:rPr>
              <a:t>ngay</a:t>
            </a:r>
            <a:r>
              <a:rPr sz="800" i="1" dirty="0">
                <a:solidFill>
                  <a:srgbClr val="1A1A1A"/>
                </a:solidFill>
                <a:latin typeface="Inter"/>
              </a:rPr>
              <a:t>"</a:t>
            </a:r>
          </a:p>
        </p:txBody>
      </p:sp>
      <p:cxnSp>
        <p:nvCxnSpPr>
          <p:cNvPr id="1196" name="Connector 1195"/>
          <p:cNvCxnSpPr/>
          <p:nvPr/>
        </p:nvCxnSpPr>
        <p:spPr>
          <a:xfrm>
            <a:off x="7238819" y="1346200"/>
            <a:ext cx="0" cy="1651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7" name="TextBox 1196"/>
          <p:cNvSpPr txBox="1"/>
          <p:nvPr/>
        </p:nvSpPr>
        <p:spPr>
          <a:xfrm>
            <a:off x="7302317" y="1320072"/>
            <a:ext cx="444488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chọn VNPay</a:t>
            </a:r>
          </a:p>
        </p:txBody>
      </p:sp>
      <p:cxnSp>
        <p:nvCxnSpPr>
          <p:cNvPr id="1198" name="Connector 1197"/>
          <p:cNvCxnSpPr/>
          <p:nvPr/>
        </p:nvCxnSpPr>
        <p:spPr>
          <a:xfrm>
            <a:off x="8127796" y="1708150"/>
            <a:ext cx="380991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 flipV="1">
            <a:off x="8508787" y="1346200"/>
            <a:ext cx="0" cy="36195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0" name="TextBox 1199"/>
          <p:cNvSpPr txBox="1"/>
          <p:nvPr/>
        </p:nvSpPr>
        <p:spPr>
          <a:xfrm>
            <a:off x="8153196" y="1548672"/>
            <a:ext cx="736581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thanh toán thành công</a:t>
            </a:r>
          </a:p>
        </p:txBody>
      </p:sp>
      <p:cxnSp>
        <p:nvCxnSpPr>
          <p:cNvPr id="1201" name="Connector 1200"/>
          <p:cNvCxnSpPr/>
          <p:nvPr/>
        </p:nvCxnSpPr>
        <p:spPr>
          <a:xfrm flipH="1">
            <a:off x="5714857" y="1708150"/>
            <a:ext cx="888977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 flipV="1">
            <a:off x="5714857" y="1346200"/>
            <a:ext cx="0" cy="36195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3" name="TextBox 1202"/>
          <p:cNvSpPr txBox="1"/>
          <p:nvPr/>
        </p:nvSpPr>
        <p:spPr>
          <a:xfrm>
            <a:off x="5765655" y="1548672"/>
            <a:ext cx="634984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thanh toán thất bại</a:t>
            </a:r>
          </a:p>
        </p:txBody>
      </p:sp>
      <p:cxnSp>
        <p:nvCxnSpPr>
          <p:cNvPr id="1204" name="Connector 1203"/>
          <p:cNvCxnSpPr/>
          <p:nvPr/>
        </p:nvCxnSpPr>
        <p:spPr>
          <a:xfrm>
            <a:off x="888977" y="1346200"/>
            <a:ext cx="0" cy="9398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5" name="TextBox 1204"/>
          <p:cNvSpPr txBox="1"/>
          <p:nvPr/>
        </p:nvSpPr>
        <p:spPr>
          <a:xfrm>
            <a:off x="939776" y="1675672"/>
            <a:ext cx="1181070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avatar → "Thông tin cá nhân"</a:t>
            </a:r>
          </a:p>
        </p:txBody>
      </p:sp>
      <p:cxnSp>
        <p:nvCxnSpPr>
          <p:cNvPr id="1206" name="Connector 1205"/>
          <p:cNvCxnSpPr/>
          <p:nvPr/>
        </p:nvCxnSpPr>
        <p:spPr>
          <a:xfrm>
            <a:off x="1523961" y="24828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 1206"/>
          <p:cNvCxnSpPr/>
          <p:nvPr/>
        </p:nvCxnSpPr>
        <p:spPr>
          <a:xfrm>
            <a:off x="3111422" y="24828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 1207"/>
          <p:cNvCxnSpPr/>
          <p:nvPr/>
        </p:nvCxnSpPr>
        <p:spPr>
          <a:xfrm>
            <a:off x="4698882" y="24828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9" name="TextBox 1208"/>
          <p:cNvSpPr txBox="1"/>
          <p:nvPr/>
        </p:nvSpPr>
        <p:spPr>
          <a:xfrm>
            <a:off x="1574760" y="2372228"/>
            <a:ext cx="1130271" cy="132344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các tab trong trang Hồ sơ</a:t>
            </a:r>
          </a:p>
        </p:txBody>
      </p:sp>
      <p:cxnSp>
        <p:nvCxnSpPr>
          <p:cNvPr id="1210" name="Connector 1209"/>
          <p:cNvCxnSpPr/>
          <p:nvPr/>
        </p:nvCxnSpPr>
        <p:spPr>
          <a:xfrm flipV="1">
            <a:off x="4063898" y="2108200"/>
            <a:ext cx="0" cy="17780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>
            <a:off x="4063898" y="2108200"/>
            <a:ext cx="4889378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 flipV="1">
            <a:off x="8953276" y="1346200"/>
            <a:ext cx="0" cy="7620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3" name="TextBox 1212"/>
          <p:cNvSpPr txBox="1"/>
          <p:nvPr/>
        </p:nvSpPr>
        <p:spPr>
          <a:xfrm>
            <a:off x="6222844" y="1942372"/>
            <a:ext cx="901677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vào một đơn hàng</a:t>
            </a:r>
          </a:p>
        </p:txBody>
      </p:sp>
      <p:cxnSp>
        <p:nvCxnSpPr>
          <p:cNvPr id="1214" name="Connector 1213"/>
          <p:cNvCxnSpPr/>
          <p:nvPr/>
        </p:nvCxnSpPr>
        <p:spPr>
          <a:xfrm flipV="1">
            <a:off x="5651358" y="2032000"/>
            <a:ext cx="0" cy="25400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 1214"/>
          <p:cNvCxnSpPr/>
          <p:nvPr/>
        </p:nvCxnSpPr>
        <p:spPr>
          <a:xfrm flipH="1">
            <a:off x="2476438" y="2032000"/>
            <a:ext cx="3174920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6" name="Connector 1215"/>
          <p:cNvCxnSpPr/>
          <p:nvPr/>
        </p:nvCxnSpPr>
        <p:spPr>
          <a:xfrm flipV="1">
            <a:off x="2476438" y="1346200"/>
            <a:ext cx="0" cy="6858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7" name="TextBox 1216"/>
          <p:cNvSpPr txBox="1"/>
          <p:nvPr/>
        </p:nvSpPr>
        <p:spPr>
          <a:xfrm>
            <a:off x="3695607" y="1866172"/>
            <a:ext cx="736581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"Dùng ngay"</a:t>
            </a:r>
          </a:p>
        </p:txBody>
      </p:sp>
      <p:cxnSp>
        <p:nvCxnSpPr>
          <p:cNvPr id="1218" name="Connector 1217"/>
          <p:cNvCxnSpPr/>
          <p:nvPr/>
        </p:nvCxnSpPr>
        <p:spPr>
          <a:xfrm>
            <a:off x="6984825" y="1346200"/>
            <a:ext cx="0" cy="1498600"/>
          </a:xfrm>
          <a:prstGeom prst="line">
            <a:avLst/>
          </a:prstGeom>
          <a:ln w="15875">
            <a:solidFill>
              <a:srgbClr val="2F2F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 1218"/>
          <p:cNvCxnSpPr/>
          <p:nvPr/>
        </p:nvCxnSpPr>
        <p:spPr>
          <a:xfrm flipH="1">
            <a:off x="1333466" y="2844800"/>
            <a:ext cx="5651359" cy="0"/>
          </a:xfrm>
          <a:prstGeom prst="line">
            <a:avLst/>
          </a:prstGeom>
          <a:ln w="15875">
            <a:solidFill>
              <a:srgbClr val="2F2F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>
            <a:off x="1333466" y="2844800"/>
            <a:ext cx="0" cy="330200"/>
          </a:xfrm>
          <a:prstGeom prst="line">
            <a:avLst/>
          </a:prstGeom>
          <a:ln w="15875">
            <a:solidFill>
              <a:srgbClr val="2F2F2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1" name="TextBox 1220"/>
          <p:cNvSpPr txBox="1"/>
          <p:nvPr/>
        </p:nvSpPr>
        <p:spPr>
          <a:xfrm>
            <a:off x="3721006" y="2723422"/>
            <a:ext cx="1092172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người dùng chưa đăng nhập</a:t>
            </a:r>
          </a:p>
        </p:txBody>
      </p:sp>
      <p:cxnSp>
        <p:nvCxnSpPr>
          <p:cNvPr id="1222" name="Connector 1221"/>
          <p:cNvCxnSpPr/>
          <p:nvPr/>
        </p:nvCxnSpPr>
        <p:spPr>
          <a:xfrm>
            <a:off x="1523961" y="33718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3" name="TextBox 1222"/>
          <p:cNvSpPr txBox="1"/>
          <p:nvPr/>
        </p:nvSpPr>
        <p:spPr>
          <a:xfrm>
            <a:off x="1523961" y="3199672"/>
            <a:ext cx="673083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"Đăng ký"</a:t>
            </a:r>
          </a:p>
        </p:txBody>
      </p:sp>
      <p:cxnSp>
        <p:nvCxnSpPr>
          <p:cNvPr id="1224" name="Connector 1223"/>
          <p:cNvCxnSpPr/>
          <p:nvPr/>
        </p:nvCxnSpPr>
        <p:spPr>
          <a:xfrm>
            <a:off x="3111422" y="33718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5" name="TextBox 1224"/>
          <p:cNvSpPr txBox="1"/>
          <p:nvPr/>
        </p:nvSpPr>
        <p:spPr>
          <a:xfrm>
            <a:off x="3086022" y="3199672"/>
            <a:ext cx="761980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đăng ký thành công</a:t>
            </a:r>
          </a:p>
        </p:txBody>
      </p:sp>
      <p:cxnSp>
        <p:nvCxnSpPr>
          <p:cNvPr id="1226" name="Connector 1225"/>
          <p:cNvCxnSpPr/>
          <p:nvPr/>
        </p:nvCxnSpPr>
        <p:spPr>
          <a:xfrm>
            <a:off x="4063898" y="3568700"/>
            <a:ext cx="0" cy="10795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 flipH="1">
            <a:off x="888977" y="3676650"/>
            <a:ext cx="3174921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 flipV="1">
            <a:off x="888977" y="3568700"/>
            <a:ext cx="0" cy="10795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9" name="TextBox 1228"/>
          <p:cNvSpPr txBox="1"/>
          <p:nvPr/>
        </p:nvSpPr>
        <p:spPr>
          <a:xfrm>
            <a:off x="2108147" y="3548922"/>
            <a:ext cx="736581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xác thực thành công</a:t>
            </a:r>
          </a:p>
        </p:txBody>
      </p:sp>
      <p:cxnSp>
        <p:nvCxnSpPr>
          <p:cNvPr id="1230" name="Connector 1229"/>
          <p:cNvCxnSpPr/>
          <p:nvPr/>
        </p:nvCxnSpPr>
        <p:spPr>
          <a:xfrm>
            <a:off x="1650958" y="3568700"/>
            <a:ext cx="0" cy="20955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>
            <a:off x="1650958" y="3778250"/>
            <a:ext cx="3968651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 flipV="1">
            <a:off x="5619609" y="3568700"/>
            <a:ext cx="0" cy="20955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3" name="TextBox 1232"/>
          <p:cNvSpPr txBox="1"/>
          <p:nvPr/>
        </p:nvSpPr>
        <p:spPr>
          <a:xfrm>
            <a:off x="3162220" y="3712078"/>
            <a:ext cx="1079473" cy="132344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"Quên mật khẩu"</a:t>
            </a:r>
          </a:p>
        </p:txBody>
      </p:sp>
      <p:cxnSp>
        <p:nvCxnSpPr>
          <p:cNvPr id="1234" name="Connector 1233"/>
          <p:cNvCxnSpPr/>
          <p:nvPr/>
        </p:nvCxnSpPr>
        <p:spPr>
          <a:xfrm>
            <a:off x="6286342" y="3371850"/>
            <a:ext cx="317492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5" name="TextBox 1234"/>
          <p:cNvSpPr txBox="1"/>
          <p:nvPr/>
        </p:nvSpPr>
        <p:spPr>
          <a:xfrm>
            <a:off x="6235544" y="3199672"/>
            <a:ext cx="736581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nhập email hợp lệ</a:t>
            </a:r>
          </a:p>
        </p:txBody>
      </p:sp>
      <p:cxnSp>
        <p:nvCxnSpPr>
          <p:cNvPr id="1236" name="Connector 1235"/>
          <p:cNvCxnSpPr/>
          <p:nvPr/>
        </p:nvCxnSpPr>
        <p:spPr>
          <a:xfrm>
            <a:off x="7238819" y="3568700"/>
            <a:ext cx="0" cy="19050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 flipH="1">
            <a:off x="1155671" y="3759200"/>
            <a:ext cx="6083148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 flipV="1">
            <a:off x="1155671" y="3568700"/>
            <a:ext cx="0" cy="1905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9" name="TextBox 1238"/>
          <p:cNvSpPr txBox="1"/>
          <p:nvPr/>
        </p:nvSpPr>
        <p:spPr>
          <a:xfrm>
            <a:off x="5244968" y="3631472"/>
            <a:ext cx="761980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đổi mật khẩu xong</a:t>
            </a:r>
          </a:p>
        </p:txBody>
      </p:sp>
      <p:cxnSp>
        <p:nvCxnSpPr>
          <p:cNvPr id="1240" name="Connector 1239"/>
          <p:cNvCxnSpPr/>
          <p:nvPr/>
        </p:nvCxnSpPr>
        <p:spPr>
          <a:xfrm flipH="1">
            <a:off x="126996" y="3302000"/>
            <a:ext cx="126997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 flipV="1">
            <a:off x="126996" y="1079500"/>
            <a:ext cx="0" cy="222250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>
            <a:off x="126996" y="1079500"/>
            <a:ext cx="126997" cy="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3" name="TextBox 1242"/>
          <p:cNvSpPr txBox="1"/>
          <p:nvPr/>
        </p:nvSpPr>
        <p:spPr>
          <a:xfrm>
            <a:off x="63498" y="2082072"/>
            <a:ext cx="761980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đăng nhập (USER)</a:t>
            </a:r>
          </a:p>
        </p:txBody>
      </p:sp>
      <p:cxnSp>
        <p:nvCxnSpPr>
          <p:cNvPr id="1244" name="Connector 1243"/>
          <p:cNvCxnSpPr/>
          <p:nvPr/>
        </p:nvCxnSpPr>
        <p:spPr>
          <a:xfrm>
            <a:off x="761980" y="3568700"/>
            <a:ext cx="0" cy="49530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 1244"/>
          <p:cNvCxnSpPr/>
          <p:nvPr/>
        </p:nvCxnSpPr>
        <p:spPr>
          <a:xfrm>
            <a:off x="761980" y="4064000"/>
            <a:ext cx="126997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Connector 1245"/>
          <p:cNvCxnSpPr/>
          <p:nvPr/>
        </p:nvCxnSpPr>
        <p:spPr>
          <a:xfrm>
            <a:off x="888977" y="4064000"/>
            <a:ext cx="0" cy="1905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7" name="TextBox 1246"/>
          <p:cNvSpPr txBox="1"/>
          <p:nvPr/>
        </p:nvSpPr>
        <p:spPr>
          <a:xfrm>
            <a:off x="812779" y="3813678"/>
            <a:ext cx="1015974" cy="132344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có vai trò ADMIN</a:t>
            </a:r>
          </a:p>
        </p:txBody>
      </p:sp>
      <p:cxnSp>
        <p:nvCxnSpPr>
          <p:cNvPr id="1248" name="Connector 1247"/>
          <p:cNvCxnSpPr/>
          <p:nvPr/>
        </p:nvCxnSpPr>
        <p:spPr>
          <a:xfrm>
            <a:off x="1523961" y="3302000"/>
            <a:ext cx="0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>
            <a:off x="1523961" y="3302000"/>
            <a:ext cx="7556311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>
            <a:off x="9080272" y="3302000"/>
            <a:ext cx="0" cy="952500"/>
          </a:xfrm>
          <a:prstGeom prst="line">
            <a:avLst/>
          </a:prstGeom>
          <a:ln w="15875">
            <a:solidFill>
              <a:srgbClr val="2F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1" name="TextBox 1250"/>
          <p:cNvSpPr txBox="1"/>
          <p:nvPr/>
        </p:nvSpPr>
        <p:spPr>
          <a:xfrm>
            <a:off x="4444888" y="3197728"/>
            <a:ext cx="1142971" cy="132344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có vai trò OPERATOR</a:t>
            </a:r>
          </a:p>
        </p:txBody>
      </p:sp>
      <p:cxnSp>
        <p:nvCxnSpPr>
          <p:cNvPr id="1252" name="Connector 1251"/>
          <p:cNvCxnSpPr/>
          <p:nvPr/>
        </p:nvCxnSpPr>
        <p:spPr>
          <a:xfrm>
            <a:off x="1523961" y="4451350"/>
            <a:ext cx="76198" cy="0"/>
          </a:xfrm>
          <a:prstGeom prst="line">
            <a:avLst/>
          </a:prstGeom>
          <a:ln w="12700">
            <a:solidFill>
              <a:srgbClr val="6B6B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>
            <a:off x="1523961" y="5022850"/>
            <a:ext cx="76198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4" name="TextBox 1253"/>
          <p:cNvSpPr txBox="1"/>
          <p:nvPr/>
        </p:nvSpPr>
        <p:spPr>
          <a:xfrm>
            <a:off x="1498562" y="4795467"/>
            <a:ext cx="406389" cy="37856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"Thêm SP"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523961" y="5143500"/>
            <a:ext cx="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Connector 1255"/>
          <p:cNvCxnSpPr/>
          <p:nvPr/>
        </p:nvCxnSpPr>
        <p:spPr>
          <a:xfrm>
            <a:off x="1523961" y="5143500"/>
            <a:ext cx="1422365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nector 1256"/>
          <p:cNvCxnSpPr/>
          <p:nvPr/>
        </p:nvCxnSpPr>
        <p:spPr>
          <a:xfrm flipV="1">
            <a:off x="2946326" y="5022850"/>
            <a:ext cx="0" cy="12065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TextBox 1257"/>
          <p:cNvSpPr txBox="1"/>
          <p:nvPr/>
        </p:nvSpPr>
        <p:spPr>
          <a:xfrm>
            <a:off x="1841453" y="5085622"/>
            <a:ext cx="546086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"Sửa SP"</a:t>
            </a:r>
          </a:p>
        </p:txBody>
      </p:sp>
      <p:cxnSp>
        <p:nvCxnSpPr>
          <p:cNvPr id="1259" name="Connector 1258"/>
          <p:cNvCxnSpPr/>
          <p:nvPr/>
        </p:nvCxnSpPr>
        <p:spPr>
          <a:xfrm flipV="1">
            <a:off x="2235144" y="4699000"/>
            <a:ext cx="0" cy="12700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0" name="Connector 1259"/>
          <p:cNvCxnSpPr/>
          <p:nvPr/>
        </p:nvCxnSpPr>
        <p:spPr>
          <a:xfrm>
            <a:off x="2235144" y="4699000"/>
            <a:ext cx="711182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Connector 1260"/>
          <p:cNvCxnSpPr/>
          <p:nvPr/>
        </p:nvCxnSpPr>
        <p:spPr>
          <a:xfrm>
            <a:off x="2946326" y="4699000"/>
            <a:ext cx="0" cy="127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2" name="TextBox 1261"/>
          <p:cNvSpPr txBox="1"/>
          <p:nvPr/>
        </p:nvSpPr>
        <p:spPr>
          <a:xfrm>
            <a:off x="2285942" y="4558572"/>
            <a:ext cx="901677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sau khi tạo SP thành công</a:t>
            </a:r>
          </a:p>
        </p:txBody>
      </p:sp>
      <p:cxnSp>
        <p:nvCxnSpPr>
          <p:cNvPr id="1263" name="Connector 1262"/>
          <p:cNvCxnSpPr/>
          <p:nvPr/>
        </p:nvCxnSpPr>
        <p:spPr>
          <a:xfrm>
            <a:off x="4927476" y="4648200"/>
            <a:ext cx="0" cy="11430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nector 1263"/>
          <p:cNvCxnSpPr/>
          <p:nvPr/>
        </p:nvCxnSpPr>
        <p:spPr>
          <a:xfrm flipH="1">
            <a:off x="888977" y="4762500"/>
            <a:ext cx="4038499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5" name="Connector 1264"/>
          <p:cNvCxnSpPr/>
          <p:nvPr/>
        </p:nvCxnSpPr>
        <p:spPr>
          <a:xfrm>
            <a:off x="888977" y="4762500"/>
            <a:ext cx="0" cy="635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6" name="TextBox 1265"/>
          <p:cNvSpPr txBox="1"/>
          <p:nvPr/>
        </p:nvSpPr>
        <p:spPr>
          <a:xfrm>
            <a:off x="1523961" y="4603022"/>
            <a:ext cx="1269968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"Xem SP của danh mục"</a:t>
            </a:r>
          </a:p>
        </p:txBody>
      </p:sp>
      <p:cxnSp>
        <p:nvCxnSpPr>
          <p:cNvPr id="1267" name="Connector 1266"/>
          <p:cNvCxnSpPr>
            <a:cxnSpLocks/>
          </p:cNvCxnSpPr>
          <p:nvPr/>
        </p:nvCxnSpPr>
        <p:spPr>
          <a:xfrm>
            <a:off x="3555910" y="4074160"/>
            <a:ext cx="2692333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8" name="TextBox 1267"/>
          <p:cNvSpPr txBox="1"/>
          <p:nvPr/>
        </p:nvSpPr>
        <p:spPr>
          <a:xfrm>
            <a:off x="4480316" y="3944551"/>
            <a:ext cx="1015974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nhấn "Nhắn KH" → chat</a:t>
            </a:r>
          </a:p>
        </p:txBody>
      </p:sp>
      <p:cxnSp>
        <p:nvCxnSpPr>
          <p:cNvPr id="1269" name="Connector 1268"/>
          <p:cNvCxnSpPr/>
          <p:nvPr/>
        </p:nvCxnSpPr>
        <p:spPr>
          <a:xfrm>
            <a:off x="6984825" y="5594350"/>
            <a:ext cx="0" cy="247650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0" name="Connector 1269"/>
          <p:cNvCxnSpPr/>
          <p:nvPr/>
        </p:nvCxnSpPr>
        <p:spPr>
          <a:xfrm flipH="1">
            <a:off x="253993" y="5842000"/>
            <a:ext cx="6730832" cy="0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1" name="Connector 1270"/>
          <p:cNvCxnSpPr/>
          <p:nvPr/>
        </p:nvCxnSpPr>
        <p:spPr>
          <a:xfrm flipV="1">
            <a:off x="253993" y="4648200"/>
            <a:ext cx="0" cy="1193800"/>
          </a:xfrm>
          <a:prstGeom prst="line">
            <a:avLst/>
          </a:prstGeom>
          <a:ln w="12700">
            <a:solidFill>
              <a:srgbClr val="6B6B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" name="TextBox 1271"/>
          <p:cNvSpPr txBox="1"/>
          <p:nvPr/>
        </p:nvSpPr>
        <p:spPr>
          <a:xfrm>
            <a:off x="2793930" y="5714272"/>
            <a:ext cx="1523961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sidebar dẫn tới mọi trang /admin/*</a:t>
            </a:r>
          </a:p>
        </p:txBody>
      </p:sp>
      <p:cxnSp>
        <p:nvCxnSpPr>
          <p:cNvPr id="1273" name="Connector 1272"/>
          <p:cNvCxnSpPr/>
          <p:nvPr/>
        </p:nvCxnSpPr>
        <p:spPr>
          <a:xfrm>
            <a:off x="9080272" y="4648200"/>
            <a:ext cx="0" cy="749300"/>
          </a:xfrm>
          <a:prstGeom prst="line">
            <a:avLst/>
          </a:prstGeom>
          <a:ln w="12700">
            <a:solidFill>
              <a:srgbClr val="6B6B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4" name="TextBox 1273"/>
          <p:cNvSpPr txBox="1"/>
          <p:nvPr/>
        </p:nvSpPr>
        <p:spPr>
          <a:xfrm>
            <a:off x="9064783" y="6097201"/>
            <a:ext cx="888977" cy="255455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5"/>
            </a:solidFill>
          </a:ln>
          <a:effectLst/>
        </p:spPr>
        <p:txBody>
          <a:bodyPr wrap="square" lIns="36576" tIns="4572" rIns="36576" bIns="4572" anchor="ctr">
            <a:spAutoFit/>
          </a:bodyPr>
          <a:lstStyle/>
          <a:p>
            <a:pPr algn="ctr"/>
            <a:r>
              <a:rPr sz="800" i="1">
                <a:solidFill>
                  <a:srgbClr val="1A1A1A"/>
                </a:solidFill>
                <a:latin typeface="Inter"/>
              </a:rPr>
              <a:t>điều hướng qua sidebar</a:t>
            </a:r>
          </a:p>
        </p:txBody>
      </p:sp>
      <p:sp>
        <p:nvSpPr>
          <p:cNvPr id="1275" name="TextBox 1274"/>
          <p:cNvSpPr txBox="1"/>
          <p:nvPr/>
        </p:nvSpPr>
        <p:spPr>
          <a:xfrm>
            <a:off x="203194" y="6635750"/>
            <a:ext cx="507987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1" i="0">
                <a:solidFill>
                  <a:srgbClr val="555555"/>
                </a:solidFill>
                <a:latin typeface="Inter"/>
              </a:rPr>
              <a:t>Chú giải:</a:t>
            </a:r>
          </a:p>
        </p:txBody>
      </p:sp>
      <p:grpSp>
        <p:nvGrpSpPr>
          <p:cNvPr id="1049" name="Legend:Cửa hàng"/>
          <p:cNvGrpSpPr/>
          <p:nvPr/>
        </p:nvGrpSpPr>
        <p:grpSpPr>
          <a:xfrm>
            <a:off x="787380" y="6635750"/>
            <a:ext cx="609584" cy="123111"/>
            <a:chOff x="787380" y="6635750"/>
            <a:chExt cx="609584" cy="123111"/>
          </a:xfrm>
        </p:grpSpPr>
        <p:sp>
          <p:nvSpPr>
            <p:cNvPr id="1276" name="Rectangle 1275"/>
            <p:cNvSpPr/>
            <p:nvPr/>
          </p:nvSpPr>
          <p:spPr>
            <a:xfrm>
              <a:off x="787380" y="6648450"/>
              <a:ext cx="76198" cy="76200"/>
            </a:xfrm>
            <a:prstGeom prst="rect">
              <a:avLst/>
            </a:prstGeom>
            <a:solidFill>
              <a:srgbClr val="2C5F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277" name="TextBox 1276"/>
            <p:cNvSpPr txBox="1"/>
            <p:nvPr/>
          </p:nvSpPr>
          <p:spPr>
            <a:xfrm>
              <a:off x="888977" y="6635750"/>
              <a:ext cx="507987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555555"/>
                  </a:solidFill>
                  <a:latin typeface="Inter"/>
                </a:rPr>
                <a:t>Cửa hàng</a:t>
              </a:r>
            </a:p>
          </p:txBody>
        </p:sp>
      </p:grpSp>
      <p:grpSp>
        <p:nvGrpSpPr>
          <p:cNvPr id="1050" name="Legend:Tài khoản"/>
          <p:cNvGrpSpPr/>
          <p:nvPr/>
        </p:nvGrpSpPr>
        <p:grpSpPr>
          <a:xfrm>
            <a:off x="1384265" y="6635750"/>
            <a:ext cx="609584" cy="123111"/>
            <a:chOff x="1384265" y="6635750"/>
            <a:chExt cx="609584" cy="123111"/>
          </a:xfrm>
        </p:grpSpPr>
        <p:sp>
          <p:nvSpPr>
            <p:cNvPr id="1278" name="Rectangle 1277"/>
            <p:cNvSpPr/>
            <p:nvPr/>
          </p:nvSpPr>
          <p:spPr>
            <a:xfrm>
              <a:off x="1384265" y="6648450"/>
              <a:ext cx="76198" cy="76200"/>
            </a:xfrm>
            <a:prstGeom prst="rect">
              <a:avLst/>
            </a:prstGeom>
            <a:solidFill>
              <a:srgbClr val="574A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279" name="TextBox 1278"/>
            <p:cNvSpPr txBox="1"/>
            <p:nvPr/>
          </p:nvSpPr>
          <p:spPr>
            <a:xfrm>
              <a:off x="1485862" y="6635750"/>
              <a:ext cx="507987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555555"/>
                  </a:solidFill>
                  <a:latin typeface="Inter"/>
                </a:rPr>
                <a:t>Tài khoản</a:t>
              </a:r>
            </a:p>
          </p:txBody>
        </p:sp>
      </p:grpSp>
      <p:grpSp>
        <p:nvGrpSpPr>
          <p:cNvPr id="1051" name="Legend:Xác thực"/>
          <p:cNvGrpSpPr/>
          <p:nvPr/>
        </p:nvGrpSpPr>
        <p:grpSpPr>
          <a:xfrm>
            <a:off x="1993850" y="6635750"/>
            <a:ext cx="609584" cy="123111"/>
            <a:chOff x="1993850" y="6635750"/>
            <a:chExt cx="609584" cy="123111"/>
          </a:xfrm>
        </p:grpSpPr>
        <p:sp>
          <p:nvSpPr>
            <p:cNvPr id="1280" name="Rectangle 1279"/>
            <p:cNvSpPr/>
            <p:nvPr/>
          </p:nvSpPr>
          <p:spPr>
            <a:xfrm>
              <a:off x="1993850" y="6648450"/>
              <a:ext cx="76198" cy="76200"/>
            </a:xfrm>
            <a:prstGeom prst="rect">
              <a:avLst/>
            </a:prstGeom>
            <a:solidFill>
              <a:srgbClr val="B0553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281" name="TextBox 1280"/>
            <p:cNvSpPr txBox="1"/>
            <p:nvPr/>
          </p:nvSpPr>
          <p:spPr>
            <a:xfrm>
              <a:off x="2095447" y="6635750"/>
              <a:ext cx="507987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555555"/>
                  </a:solidFill>
                  <a:latin typeface="Inter"/>
                </a:rPr>
                <a:t>Xác thực</a:t>
              </a:r>
            </a:p>
          </p:txBody>
        </p:sp>
      </p:grpSp>
      <p:grpSp>
        <p:nvGrpSpPr>
          <p:cNvPr id="1052" name="Legend:Admin"/>
          <p:cNvGrpSpPr/>
          <p:nvPr/>
        </p:nvGrpSpPr>
        <p:grpSpPr>
          <a:xfrm>
            <a:off x="2565335" y="6635750"/>
            <a:ext cx="609585" cy="123111"/>
            <a:chOff x="2565335" y="6635750"/>
            <a:chExt cx="609585" cy="123111"/>
          </a:xfrm>
        </p:grpSpPr>
        <p:sp>
          <p:nvSpPr>
            <p:cNvPr id="1282" name="Rectangle 1281"/>
            <p:cNvSpPr/>
            <p:nvPr/>
          </p:nvSpPr>
          <p:spPr>
            <a:xfrm>
              <a:off x="2565335" y="6648450"/>
              <a:ext cx="76198" cy="76200"/>
            </a:xfrm>
            <a:prstGeom prst="rect">
              <a:avLst/>
            </a:prstGeom>
            <a:solidFill>
              <a:srgbClr val="7E31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283" name="TextBox 1282"/>
            <p:cNvSpPr txBox="1"/>
            <p:nvPr/>
          </p:nvSpPr>
          <p:spPr>
            <a:xfrm>
              <a:off x="2666933" y="6635750"/>
              <a:ext cx="507987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555555"/>
                  </a:solidFill>
                  <a:latin typeface="Inter"/>
                </a:rPr>
                <a:t>Admin</a:t>
              </a:r>
            </a:p>
          </p:txBody>
        </p:sp>
      </p:grpSp>
      <p:grpSp>
        <p:nvGrpSpPr>
          <p:cNvPr id="1053" name="Legend:Staff"/>
          <p:cNvGrpSpPr/>
          <p:nvPr/>
        </p:nvGrpSpPr>
        <p:grpSpPr>
          <a:xfrm>
            <a:off x="3035224" y="6635750"/>
            <a:ext cx="609584" cy="123111"/>
            <a:chOff x="3035224" y="6635750"/>
            <a:chExt cx="609584" cy="123111"/>
          </a:xfrm>
        </p:grpSpPr>
        <p:sp>
          <p:nvSpPr>
            <p:cNvPr id="1284" name="Rectangle 1283"/>
            <p:cNvSpPr/>
            <p:nvPr/>
          </p:nvSpPr>
          <p:spPr>
            <a:xfrm>
              <a:off x="3035224" y="6648450"/>
              <a:ext cx="76198" cy="76200"/>
            </a:xfrm>
            <a:prstGeom prst="rect">
              <a:avLst/>
            </a:prstGeom>
            <a:solidFill>
              <a:srgbClr val="3F6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Inter"/>
              </a:endParaRPr>
            </a:p>
          </p:txBody>
        </p:sp>
        <p:sp>
          <p:nvSpPr>
            <p:cNvPr id="1285" name="TextBox 1284"/>
            <p:cNvSpPr txBox="1"/>
            <p:nvPr/>
          </p:nvSpPr>
          <p:spPr>
            <a:xfrm>
              <a:off x="3136821" y="6635750"/>
              <a:ext cx="507987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800" b="0" i="0">
                  <a:solidFill>
                    <a:srgbClr val="555555"/>
                  </a:solidFill>
                  <a:latin typeface="Inter"/>
                </a:rPr>
                <a:t>Staff</a:t>
              </a:r>
            </a:p>
          </p:txBody>
        </p:sp>
      </p:grpSp>
      <p:cxnSp>
        <p:nvCxnSpPr>
          <p:cNvPr id="1286" name="Connector 1285"/>
          <p:cNvCxnSpPr/>
          <p:nvPr/>
        </p:nvCxnSpPr>
        <p:spPr>
          <a:xfrm>
            <a:off x="3632109" y="6673850"/>
            <a:ext cx="241294" cy="0"/>
          </a:xfrm>
          <a:prstGeom prst="line">
            <a:avLst/>
          </a:prstGeom>
          <a:ln w="15875">
            <a:solidFill>
              <a:srgbClr val="2F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7" name="TextBox 1286"/>
          <p:cNvSpPr txBox="1"/>
          <p:nvPr/>
        </p:nvSpPr>
        <p:spPr>
          <a:xfrm>
            <a:off x="3924201" y="6635750"/>
            <a:ext cx="9524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55555"/>
                </a:solidFill>
                <a:latin typeface="Inter"/>
              </a:rPr>
              <a:t>điều hướng chính</a:t>
            </a:r>
          </a:p>
        </p:txBody>
      </p:sp>
      <p:cxnSp>
        <p:nvCxnSpPr>
          <p:cNvPr id="1288" name="Connector 1287"/>
          <p:cNvCxnSpPr/>
          <p:nvPr/>
        </p:nvCxnSpPr>
        <p:spPr>
          <a:xfrm>
            <a:off x="4775080" y="6673850"/>
            <a:ext cx="24129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9" name="TextBox 1288"/>
          <p:cNvSpPr txBox="1"/>
          <p:nvPr/>
        </p:nvSpPr>
        <p:spPr>
          <a:xfrm>
            <a:off x="5067173" y="6635750"/>
            <a:ext cx="9524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55555"/>
                </a:solidFill>
                <a:latin typeface="Inter"/>
              </a:rPr>
              <a:t>điều hướng nội bộ</a:t>
            </a:r>
          </a:p>
        </p:txBody>
      </p:sp>
      <p:cxnSp>
        <p:nvCxnSpPr>
          <p:cNvPr id="1290" name="Connector 1289"/>
          <p:cNvCxnSpPr/>
          <p:nvPr/>
        </p:nvCxnSpPr>
        <p:spPr>
          <a:xfrm>
            <a:off x="5918052" y="6673850"/>
            <a:ext cx="241294" cy="0"/>
          </a:xfrm>
          <a:prstGeom prst="line">
            <a:avLst/>
          </a:prstGeom>
          <a:ln w="15875">
            <a:solidFill>
              <a:srgbClr val="2F2F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1" name="TextBox 1290"/>
          <p:cNvSpPr txBox="1"/>
          <p:nvPr/>
        </p:nvSpPr>
        <p:spPr>
          <a:xfrm>
            <a:off x="6210144" y="6635750"/>
            <a:ext cx="126996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55555"/>
                </a:solidFill>
                <a:latin typeface="Inter"/>
              </a:rPr>
              <a:t>điều kiện / middleware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</Words>
  <Application>Microsoft Office PowerPoint</Application>
  <PresentationFormat>Widescreen</PresentationFormat>
  <Paragraphs>132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Sang Truong Tan</cp:lastModifiedBy>
  <cp:revision>2</cp:revision>
  <dcterms:created xsi:type="dcterms:W3CDTF">2013-01-27T09:14:16Z</dcterms:created>
  <dcterms:modified xsi:type="dcterms:W3CDTF">2026-05-18T19:49:22Z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2026-05-18T19:49:22Z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e6f6276c-e219-4993-a301-9a3308c62b21</vt:lpwstr>
  </property>
  <property fmtid="{D5CDD505-2E9C-101B-9397-08002B2CF9AE}" pid="7" name="MSIP_Label_defa4170-0d19-0005-0004-bc88714345d2_ActionId">
    <vt:lpwstr>cb2686c9-a3cf-4fb2-ab36-3d773a62f2bc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